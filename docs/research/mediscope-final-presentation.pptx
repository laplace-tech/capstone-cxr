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E65FA-E5A3-4A1C-A092-9933B6902B0C}" v="4" dt="2026-04-28T14:02:21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49" autoAdjust="0"/>
  </p:normalViewPr>
  <p:slideViewPr>
    <p:cSldViewPr snapToGrid="0" snapToObjects="1">
      <p:cViewPr varScale="1">
        <p:scale>
          <a:sx n="143" d="100"/>
          <a:sy n="143" d="100"/>
        </p:scale>
        <p:origin x="1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65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82880" y="91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r>
              <a:rPr lang="en-US" sz="14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한국정보기술학회</a:t>
            </a:r>
            <a:r>
              <a:rPr lang="en-US" sz="14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하계</a:t>
            </a:r>
            <a:r>
              <a:rPr lang="en-US" sz="14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종합학술대회</a:t>
            </a:r>
            <a:r>
              <a:rPr lang="en-US" sz="14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</a:t>
            </a:r>
            <a:endParaRPr lang="en-US" sz="1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603069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Baskerville BT" pitchFamily="2" charset="0"/>
                <a:ea typeface="Calibri" pitchFamily="34" charset="-122"/>
                <a:cs typeface="Calibri" pitchFamily="34" charset="-120"/>
              </a:rPr>
              <a:t>Kyonggi University  ·  Dept. of AI Computer Engineering                                                    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Baskerville B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Chest X-ray</a:t>
            </a:r>
            <a:endParaRPr lang="en-US" altLang="ko-KR" sz="3800" dirty="0"/>
          </a:p>
          <a:p>
            <a:pPr algn="ctr">
              <a:lnSpc>
                <a:spcPct val="120000"/>
              </a:lnSpc>
            </a:pPr>
            <a:r>
              <a:rPr lang="en-US" altLang="ko-KR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Assistance System</a:t>
            </a:r>
            <a:endParaRPr lang="en-US" altLang="ko-KR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16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Medical Imaging AI Using Grad-CAM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01568"/>
            <a:ext cx="6400800" cy="4572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1404" y="3547872"/>
            <a:ext cx="8201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r>
              <a:rPr lang="en-US" sz="1500" b="1" i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Yongmin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Park*,  </a:t>
            </a:r>
            <a:r>
              <a:rPr lang="en-US" sz="15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Jiwon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Park* 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5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Hosung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Song* 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5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Yongjun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Lee* 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5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Yoonjin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Ha* 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5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Seyeon</a:t>
            </a:r>
            <a:r>
              <a:rPr lang="en-US" sz="15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Son**</a:t>
            </a:r>
            <a:endParaRPr lang="en-US" sz="1500" b="1" i="1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Prof</a:t>
            </a: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6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Hyunki</a:t>
            </a: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Lim***</a:t>
            </a:r>
            <a:endParaRPr lang="en-US" sz="1600" b="1" i="1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*경기대학교 AI컴퓨터공학부   **경기대학교 소프트웨어경영학부   ***경기대학교 AI컴퓨터공학부 교수 (교신저자: hlim20@kyonggi.ac.kr)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본 연구는 과학기술정보통신부 및 정보통신기획평가원의 SW중심대학사업의 연구결과로 수행되었음 (2021-0-01393).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4BF7E-D3B3-7906-89AE-9A80222FA560}"/>
              </a:ext>
            </a:extLst>
          </p:cNvPr>
          <p:cNvSpPr txBox="1"/>
          <p:nvPr/>
        </p:nvSpPr>
        <p:spPr>
          <a:xfrm>
            <a:off x="7253151" y="676317"/>
            <a:ext cx="305017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BDD7EE"/>
                </a:solidFill>
                <a:latin typeface="Blackadder ITC" panose="04020505051007020D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Team. </a:t>
            </a:r>
            <a:r>
              <a:rPr lang="ko-KR" altLang="en-US" sz="1600" b="1" dirty="0" err="1">
                <a:solidFill>
                  <a:srgbClr val="BDD7EE"/>
                </a:solidFill>
                <a:latin typeface="Blackadder ITC" panose="04020505051007020D02" pitchFamily="82" charset="0"/>
                <a:ea typeface="Calibri" pitchFamily="34" charset="-122"/>
                <a:cs typeface="Calibri" panose="020F0502020204030204" pitchFamily="34" charset="0"/>
              </a:rPr>
              <a:t>메디스코프</a:t>
            </a:r>
            <a:endParaRPr lang="ko-KR" altLang="en-US" sz="1600" b="1" dirty="0">
              <a:latin typeface="Blackadder ITC" panose="04020505051007020D02" pitchFamily="82" charset="0"/>
              <a:cs typeface="Calibri" panose="020F0502020204030204" pitchFamily="34" charset="0"/>
            </a:endParaRPr>
          </a:p>
          <a:p>
            <a:endParaRPr lang="ko-KR" altLang="en-US" sz="1500" b="1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5029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 Background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reading faces high workload, perceptual errors, and demand for AI-assisted support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7586" y="1664208"/>
            <a:ext cx="0" cy="338328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98264" y="2002536"/>
            <a:ext cx="219456" cy="146304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0851" y="2212848"/>
            <a:ext cx="4160520" cy="23745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0233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249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Challenge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70048"/>
            <a:ext cx="384048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altLang="ko-KR" sz="1400" dirty="0" smtClean="0"/>
              <a:t>- Chest </a:t>
            </a:r>
            <a:r>
              <a:rPr lang="en-US" altLang="ko-KR" sz="1400" dirty="0"/>
              <a:t>X-ray is widely used as a first-line imaging </a:t>
            </a:r>
            <a:r>
              <a:rPr lang="en-US" altLang="ko-KR" sz="1400" dirty="0" smtClean="0"/>
              <a:t>exam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/>
              <a:t>- 2D projection causes anatomical overlap</a:t>
            </a:r>
            <a:br>
              <a:rPr lang="en-US" altLang="ko-KR" sz="1400" dirty="0"/>
            </a:br>
            <a:r>
              <a:rPr lang="en-US" altLang="ko-KR" sz="1400" dirty="0"/>
              <a:t>- Small or subtle lesions can be missed</a:t>
            </a:r>
            <a:br>
              <a:rPr lang="en-US" altLang="ko-KR" sz="1400" dirty="0"/>
            </a:br>
            <a:r>
              <a:rPr lang="en-US" altLang="ko-KR" sz="1400" dirty="0"/>
              <a:t>- Perceptual error is a major cause of missed findings [</a:t>
            </a:r>
            <a:r>
              <a:rPr lang="en-US" altLang="ko-KR" sz="1400" dirty="0" err="1"/>
              <a:t>Gefter</a:t>
            </a:r>
            <a:r>
              <a:rPr lang="en-US" altLang="ko-KR" sz="1400" dirty="0"/>
              <a:t> et al., 2023]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212848"/>
            <a:ext cx="4160520" cy="23745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17720" y="2212848"/>
            <a:ext cx="40233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2249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Burden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27448" y="2670048"/>
            <a:ext cx="384048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2761488"/>
            <a:ext cx="3886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altLang="ko-KR" sz="1400" dirty="0" smtClean="0"/>
              <a:t>- </a:t>
            </a:r>
            <a:r>
              <a:rPr lang="en-US" altLang="ko-KR" sz="1400" dirty="0"/>
              <a:t>High imaging volume increases radiologists’ workload</a:t>
            </a:r>
            <a:br>
              <a:rPr lang="en-US" altLang="ko-KR" sz="1400" dirty="0"/>
            </a:br>
            <a:r>
              <a:rPr lang="en-US" altLang="ko-KR" sz="1400" dirty="0"/>
              <a:t>- AI-based normal CXR screening can reduce reading burden [</a:t>
            </a:r>
            <a:r>
              <a:rPr lang="en-US" altLang="ko-KR" sz="1400" dirty="0" err="1"/>
              <a:t>Schalekamp</a:t>
            </a:r>
            <a:r>
              <a:rPr lang="en-US" altLang="ko-KR" sz="1400" dirty="0"/>
              <a:t> et al., 2024]</a:t>
            </a:r>
            <a:br>
              <a:rPr lang="en-US" altLang="ko-KR" sz="1400" dirty="0"/>
            </a:br>
            <a:r>
              <a:rPr lang="en-US" altLang="ko-KR" sz="1400" dirty="0"/>
              <a:t>- AI support may shorten radiologists’ reading time [Shin et al., 2023]</a:t>
            </a:r>
            <a:br>
              <a:rPr lang="en-US" altLang="ko-KR" sz="1400" dirty="0"/>
            </a:br>
            <a:r>
              <a:rPr lang="en-US" altLang="ko-KR" sz="1400" dirty="0"/>
              <a:t>- Therefore, AI-assisted reading support is clinically meaningful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5029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Related Research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CNN and Grad-CAM have been applied to diverse medical imaging tasks, including brain MRI, knee X-ray, ankle MRI, and retinal fundus imaging.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5740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574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47472" y="1691640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1463040" cy="2743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0"/>
            <a:ext cx="1828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1600200"/>
            <a:ext cx="205740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68880" y="1600200"/>
            <a:ext cx="20574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542032" y="1691640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54203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44368" y="1719072"/>
            <a:ext cx="1463040" cy="2743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4436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X-ray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20848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Osteoarthritis Grading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78608" y="2743200"/>
            <a:ext cx="1828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560320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205740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20574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36592" y="1691640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3659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38928" y="1719072"/>
            <a:ext cx="1463040" cy="2743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3892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MRI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20848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 Injury </a:t>
            </a:r>
          </a:p>
          <a:p>
            <a:pPr algn="ctr"/>
            <a:r>
              <a:rPr lang="en-US" sz="13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 smtClean="0"/>
          </a:p>
        </p:txBody>
      </p:sp>
      <p:sp>
        <p:nvSpPr>
          <p:cNvPr id="31" name="Shape 29"/>
          <p:cNvSpPr/>
          <p:nvPr/>
        </p:nvSpPr>
        <p:spPr>
          <a:xfrm>
            <a:off x="4773168" y="2743200"/>
            <a:ext cx="1828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0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0" y="1600200"/>
            <a:ext cx="205740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58000" y="1600200"/>
            <a:ext cx="20574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931152" y="1691640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93115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33488" y="1719072"/>
            <a:ext cx="1463040" cy="2743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33348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Fundus 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20848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</a:t>
            </a:r>
          </a:p>
          <a:p>
            <a:pPr algn="ctr"/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67728" y="2743200"/>
            <a:ext cx="1828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949440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" y="49377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8A318C6-7E72-C5B0-F8AD-4B03872F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3" y="2852929"/>
            <a:ext cx="1773330" cy="170078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E2A1141-5436-09B1-50B1-9B81A2613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427" y="2834640"/>
            <a:ext cx="1782121" cy="177665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1D9C13-0110-BD27-ADA8-18DC23B1F4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94" t="13790" r="-5094" b="-13790"/>
          <a:stretch>
            <a:fillRect/>
          </a:stretch>
        </p:blipFill>
        <p:spPr>
          <a:xfrm>
            <a:off x="4805172" y="2898649"/>
            <a:ext cx="1892808" cy="186537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AD34297F-6CFF-16E0-3DD9-2BB43362E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198" y="2898649"/>
            <a:ext cx="1773330" cy="16934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5029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latin typeface="Garamond" panose="02020404030301010803" pitchFamily="18" charset="0"/>
              </a:rPr>
              <a:t>Research-to-Service Architecture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6" y="886969"/>
            <a:ext cx="7567167" cy="4256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28016"/>
            <a:ext cx="475488" cy="612648"/>
          </a:xfrm>
          <a:prstGeom prst="rect">
            <a:avLst/>
          </a:prstGeom>
          <a:solidFill>
            <a:srgbClr val="224075"/>
          </a:solidFill>
          <a:ln w="10160"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"/>
            <a:ext cx="8001000" cy="5290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 dirty="0">
                <a:solidFill>
                  <a:srgbClr val="202630"/>
                </a:solidFill>
                <a:latin typeface="Garamond" panose="02020404030301010803" pitchFamily="18" charset="0"/>
              </a:rPr>
              <a:t>Proposed Method / Implementation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" y="804672"/>
            <a:ext cx="8631936" cy="0"/>
          </a:xfrm>
          <a:prstGeom prst="line">
            <a:avLst/>
          </a:prstGeom>
          <a:ln w="12700">
            <a:solidFill>
              <a:srgbClr val="224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47472" y="868681"/>
            <a:ext cx="2880360" cy="42240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885698"/>
            <a:ext cx="3008376" cy="2677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1" i="0" dirty="0">
                <a:solidFill>
                  <a:srgbClr val="224075"/>
                </a:solidFill>
                <a:latin typeface="Arial"/>
              </a:rPr>
              <a:t>Implemented Web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933958"/>
            <a:ext cx="528523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50" b="1" i="0" dirty="0">
                <a:solidFill>
                  <a:srgbClr val="224075"/>
                </a:solidFill>
                <a:latin typeface="Arial"/>
              </a:rPr>
              <a:t>Service Flow and Responsibility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208531"/>
            <a:ext cx="528523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i="0" dirty="0">
                <a:solidFill>
                  <a:srgbClr val="5C6370"/>
                </a:solidFill>
                <a:latin typeface="Arial"/>
              </a:rPr>
              <a:t>The backend remains the single API entry point, while the AI service focuses on model inference and artifact generation.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1664208"/>
            <a:ext cx="521208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66160" y="1764792"/>
            <a:ext cx="329184" cy="329184"/>
          </a:xfrm>
          <a:prstGeom prst="ellipse">
            <a:avLst/>
          </a:prstGeom>
          <a:solidFill>
            <a:srgbClr val="224075"/>
          </a:solidFill>
          <a:ln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9806" y="1810512"/>
            <a:ext cx="335537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1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5541" y="1755648"/>
            <a:ext cx="11887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60" b="1" i="0">
                <a:solidFill>
                  <a:srgbClr val="224075"/>
                </a:solidFill>
                <a:latin typeface="Arial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1929384"/>
            <a:ext cx="13258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b="0" i="0">
                <a:solidFill>
                  <a:srgbClr val="5C6370"/>
                </a:solidFill>
                <a:latin typeface="Arial"/>
              </a:rPr>
              <a:t>React /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518" y="1729484"/>
            <a:ext cx="354457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0" i="0" dirty="0">
                <a:solidFill>
                  <a:srgbClr val="202630"/>
                </a:solidFill>
                <a:latin typeface="Arial"/>
              </a:rPr>
              <a:t>Upload X-ray image, preview the input, and render prediction results.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2194560"/>
            <a:ext cx="0" cy="164592"/>
          </a:xfrm>
          <a:prstGeom prst="line">
            <a:avLst/>
          </a:prstGeom>
          <a:ln w="10160">
            <a:solidFill>
              <a:srgbClr val="AC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419856" y="2359152"/>
            <a:ext cx="521208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66160" y="2459736"/>
            <a:ext cx="329184" cy="329184"/>
          </a:xfrm>
          <a:prstGeom prst="ellipse">
            <a:avLst/>
          </a:prstGeom>
          <a:solidFill>
            <a:srgbClr val="224075"/>
          </a:solidFill>
          <a:ln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2505456"/>
            <a:ext cx="329184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432304"/>
            <a:ext cx="11887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60" b="1" i="0">
                <a:solidFill>
                  <a:srgbClr val="224075"/>
                </a:solidFill>
                <a:latin typeface="Arial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624328"/>
            <a:ext cx="13258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b="0" i="0">
                <a:solidFill>
                  <a:srgbClr val="5C6370"/>
                </a:solidFill>
                <a:latin typeface="Arial"/>
              </a:rPr>
              <a:t>Spring 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518" y="2417953"/>
            <a:ext cx="3416554" cy="438913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 dirty="0">
                <a:solidFill>
                  <a:srgbClr val="202630"/>
                </a:solidFill>
                <a:latin typeface="Arial"/>
              </a:rPr>
              <a:t>Create analysis requests, manage status/result APIs, and call /predict.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30752" y="2889504"/>
            <a:ext cx="0" cy="164592"/>
          </a:xfrm>
          <a:prstGeom prst="line">
            <a:avLst/>
          </a:prstGeom>
          <a:ln w="10160">
            <a:solidFill>
              <a:srgbClr val="AC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419856" y="3054096"/>
            <a:ext cx="521208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66160" y="3154679"/>
            <a:ext cx="329184" cy="329184"/>
          </a:xfrm>
          <a:prstGeom prst="ellipse">
            <a:avLst/>
          </a:prstGeom>
          <a:solidFill>
            <a:srgbClr val="224075"/>
          </a:solidFill>
          <a:ln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3200400"/>
            <a:ext cx="329184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127248"/>
            <a:ext cx="11887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60" b="1" i="0">
                <a:solidFill>
                  <a:srgbClr val="224075"/>
                </a:solidFill>
                <a:latin typeface="Arial"/>
              </a:rPr>
              <a:t>AI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319272"/>
            <a:ext cx="13258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b="0" i="0" dirty="0" err="1">
                <a:solidFill>
                  <a:srgbClr val="5C6370"/>
                </a:solidFill>
                <a:latin typeface="Arial"/>
              </a:rPr>
              <a:t>FastAPI</a:t>
            </a:r>
            <a:r>
              <a:rPr sz="750" b="0" i="0">
                <a:solidFill>
                  <a:srgbClr val="5C6370"/>
                </a:solidFill>
                <a:latin typeface="Arial"/>
              </a:rPr>
              <a:t> + DenseNet121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2581" y="3113030"/>
            <a:ext cx="3334259" cy="4663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 dirty="0">
                <a:solidFill>
                  <a:srgbClr val="202630"/>
                </a:solidFill>
                <a:latin typeface="Arial"/>
              </a:rPr>
              <a:t>Load checkpoint and thresholds, run 5-label inference, and generate Grad-CAM.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30752" y="3584448"/>
            <a:ext cx="0" cy="164591"/>
          </a:xfrm>
          <a:prstGeom prst="line">
            <a:avLst/>
          </a:prstGeom>
          <a:ln w="10160">
            <a:solidFill>
              <a:srgbClr val="AC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419856" y="3749039"/>
            <a:ext cx="521208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66160" y="3849624"/>
            <a:ext cx="329184" cy="329184"/>
          </a:xfrm>
          <a:prstGeom prst="ellipse">
            <a:avLst/>
          </a:prstGeom>
          <a:solidFill>
            <a:srgbClr val="224075"/>
          </a:solidFill>
          <a:ln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0" y="3895343"/>
            <a:ext cx="329184" cy="21945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822191"/>
            <a:ext cx="11887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60" b="1" i="0">
                <a:solidFill>
                  <a:srgbClr val="224075"/>
                </a:solidFill>
                <a:latin typeface="Arial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4014215"/>
            <a:ext cx="13258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b="0" i="0">
                <a:solidFill>
                  <a:srgbClr val="5C6370"/>
                </a:solidFill>
                <a:latin typeface="Arial"/>
              </a:rPr>
              <a:t>Clinical support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2581" y="3794758"/>
            <a:ext cx="3331339" cy="480563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 dirty="0">
                <a:solidFill>
                  <a:srgbClr val="202630"/>
                </a:solidFill>
                <a:latin typeface="Arial"/>
              </a:rPr>
              <a:t>Return probabilities, threshold-based binary decisions, and visual evidence.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9856" y="4498848"/>
            <a:ext cx="5212080" cy="403352"/>
          </a:xfrm>
          <a:prstGeom prst="rect">
            <a:avLst/>
          </a:prstGeom>
          <a:solidFill>
            <a:srgbClr val="ECF4FC"/>
          </a:solidFill>
          <a:ln w="10160">
            <a:solidFill>
              <a:srgbClr val="BE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38728" y="4544568"/>
            <a:ext cx="4965192" cy="3004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 dirty="0">
                <a:solidFill>
                  <a:srgbClr val="16315C"/>
                </a:solidFill>
                <a:latin typeface="Arial"/>
              </a:rPr>
              <a:t>Key point: class-specific thresholds convert probabilities into final binary findings, and Grad-CAM is used as supporting visual evidence.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7" y="1133856"/>
            <a:ext cx="2786190" cy="224942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7" y="3392062"/>
            <a:ext cx="2786190" cy="1691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164592"/>
            <a:ext cx="8229600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US"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</a:rPr>
              <a:t>Model </a:t>
            </a:r>
            <a:r>
              <a:rPr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</a:rPr>
              <a:t>Evaluation Metrics &amp; Threshold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" y="713232"/>
            <a:ext cx="8631936" cy="0"/>
          </a:xfrm>
          <a:prstGeom prst="line">
            <a:avLst/>
          </a:prstGeom>
          <a:ln w="12700">
            <a:solidFill>
              <a:srgbClr val="022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92608" y="958596"/>
            <a:ext cx="228600" cy="228600"/>
          </a:xfrm>
          <a:prstGeom prst="ellipse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998221"/>
            <a:ext cx="288036" cy="1630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00" b="1" dirty="0" smtClean="0">
                <a:solidFill>
                  <a:srgbClr val="FFFFFF"/>
                </a:solidFill>
                <a:latin typeface="Arial"/>
              </a:rPr>
              <a:t>▮</a:t>
            </a:r>
            <a:endParaRPr sz="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931164"/>
            <a:ext cx="384048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dirty="0">
                <a:solidFill>
                  <a:srgbClr val="02275B"/>
                </a:solidFill>
                <a:latin typeface="Arial"/>
              </a:rPr>
              <a:t>Uncertain Label Policy Comparison</a:t>
            </a:r>
          </a:p>
        </p:txBody>
      </p:sp>
      <p:sp>
        <p:nvSpPr>
          <p:cNvPr id="8" name="Oval 7"/>
          <p:cNvSpPr/>
          <p:nvPr/>
        </p:nvSpPr>
        <p:spPr>
          <a:xfrm>
            <a:off x="4864608" y="932688"/>
            <a:ext cx="228600" cy="228600"/>
          </a:xfrm>
          <a:prstGeom prst="ellipse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7468" y="955546"/>
            <a:ext cx="182880" cy="18287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905256"/>
            <a:ext cx="3566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>
                <a:solidFill>
                  <a:srgbClr val="02275B"/>
                </a:solidFill>
                <a:latin typeface="Arial"/>
              </a:rPr>
              <a:t>F1-Based Threshold Tuning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45152" y="932688"/>
            <a:ext cx="0" cy="3163824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67793"/>
              </p:ext>
            </p:extLst>
          </p:nvPr>
        </p:nvGraphicFramePr>
        <p:xfrm>
          <a:off x="262128" y="1269492"/>
          <a:ext cx="4236720" cy="1862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631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rial"/>
                        </a:rPr>
                        <a:t>Uncertainty Label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rial"/>
                        </a:rPr>
                        <a:t>Handling</a:t>
                      </a:r>
                    </a:p>
                  </a:txBody>
                  <a:tcPr anchor="ctr">
                    <a:solidFill>
                      <a:srgbClr val="022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Valid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Valid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AUPRC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 dirty="0">
                          <a:solidFill>
                            <a:srgbClr val="141C28"/>
                          </a:solidFill>
                          <a:latin typeface="Arial"/>
                        </a:rPr>
                        <a:t>Test</a:t>
                      </a:r>
                    </a:p>
                    <a:p>
                      <a:pPr algn="ctr"/>
                      <a:r>
                        <a:rPr sz="880" b="1" dirty="0">
                          <a:solidFill>
                            <a:srgbClr val="141C28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Test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141C28"/>
                          </a:solidFill>
                          <a:latin typeface="Arial"/>
                        </a:rPr>
                        <a:t>AUPRC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39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02275B"/>
                          </a:solidFill>
                          <a:latin typeface="Arial"/>
                        </a:rPr>
                        <a:t>U-Ignore</a:t>
                      </a:r>
                    </a:p>
                  </a:txBody>
                  <a:tcPr anchor="ctr">
                    <a:solidFill>
                      <a:srgbClr val="E5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0.8817</a:t>
                      </a:r>
                    </a:p>
                  </a:txBody>
                  <a:tcPr anchor="ctr">
                    <a:solidFill>
                      <a:srgbClr val="E5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0.7387</a:t>
                      </a:r>
                    </a:p>
                  </a:txBody>
                  <a:tcPr anchor="ctr">
                    <a:solidFill>
                      <a:srgbClr val="E5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dirty="0">
                          <a:solidFill>
                            <a:srgbClr val="02275B"/>
                          </a:solidFill>
                          <a:latin typeface="Arial"/>
                        </a:rPr>
                        <a:t>0.8927</a:t>
                      </a:r>
                    </a:p>
                  </a:txBody>
                  <a:tcPr anchor="ctr">
                    <a:solidFill>
                      <a:srgbClr val="E5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dirty="0">
                          <a:solidFill>
                            <a:srgbClr val="02275B"/>
                          </a:solidFill>
                          <a:latin typeface="Arial"/>
                        </a:rPr>
                        <a:t>0.6494</a:t>
                      </a:r>
                    </a:p>
                  </a:txBody>
                  <a:tcPr anchor="ctr">
                    <a:solidFill>
                      <a:srgbClr val="E5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39">
                <a:tc>
                  <a:txBody>
                    <a:bodyPr/>
                    <a:lstStyle/>
                    <a:p>
                      <a:pPr algn="ctr"/>
                      <a:r>
                        <a:rPr sz="1019" b="0" dirty="0">
                          <a:solidFill>
                            <a:srgbClr val="141C28"/>
                          </a:solidFill>
                          <a:latin typeface="Arial"/>
                        </a:rPr>
                        <a:t>U-Ones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0.8778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0.7216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0.8715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0.6116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39">
                <a:tc>
                  <a:txBody>
                    <a:bodyPr/>
                    <a:lstStyle/>
                    <a:p>
                      <a:pPr algn="ctr"/>
                      <a:r>
                        <a:rPr sz="1019" b="0" dirty="0">
                          <a:solidFill>
                            <a:srgbClr val="141C28"/>
                          </a:solidFill>
                          <a:latin typeface="Arial"/>
                        </a:rPr>
                        <a:t>U-Zeros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 dirty="0">
                          <a:solidFill>
                            <a:srgbClr val="141C28"/>
                          </a:solidFill>
                          <a:latin typeface="Arial"/>
                        </a:rPr>
                        <a:t>0.8837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0.7302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1C28"/>
                          </a:solidFill>
                          <a:latin typeface="Arial"/>
                        </a:rPr>
                        <a:t>0.8903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 dirty="0">
                          <a:solidFill>
                            <a:srgbClr val="141C28"/>
                          </a:solidFill>
                          <a:latin typeface="Arial"/>
                        </a:rPr>
                        <a:t>0.6597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3464" y="1793747"/>
            <a:ext cx="4215384" cy="402336"/>
          </a:xfrm>
          <a:prstGeom prst="rect">
            <a:avLst/>
          </a:prstGeom>
          <a:noFill/>
          <a:ln w="1016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2317" y="3486912"/>
            <a:ext cx="4160520" cy="658368"/>
          </a:xfrm>
          <a:prstGeom prst="roundRect">
            <a:avLst/>
          </a:prstGeom>
          <a:solidFill>
            <a:srgbClr val="F4F9FF"/>
          </a:solidFill>
          <a:ln w="10160">
            <a:solidFill>
              <a:srgbClr val="AAC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7765" y="3605784"/>
            <a:ext cx="310896" cy="310896"/>
          </a:xfrm>
          <a:prstGeom prst="ellipse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38913" y="3651504"/>
            <a:ext cx="2331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dirty="0" smtClean="0">
                <a:solidFill>
                  <a:srgbClr val="FFFFFF"/>
                </a:solidFill>
                <a:latin typeface="Arial"/>
              </a:rPr>
              <a:t>★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21" y="3569208"/>
            <a:ext cx="338328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80" b="1" dirty="0">
                <a:solidFill>
                  <a:srgbClr val="02275B"/>
                </a:solidFill>
                <a:latin typeface="Arial"/>
              </a:rPr>
              <a:t>• Representative model: U-Ignore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1" y="3852672"/>
            <a:ext cx="3383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80" b="0" dirty="0">
                <a:solidFill>
                  <a:srgbClr val="141C28"/>
                </a:solidFill>
                <a:latin typeface="Arial"/>
              </a:rPr>
              <a:t>• Highest Test AUROC; avoids forcing uncertain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8" y="1234440"/>
            <a:ext cx="39502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1289304"/>
            <a:ext cx="1417320" cy="1554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19" b="0">
                <a:solidFill>
                  <a:srgbClr val="141C28"/>
                </a:solidFill>
                <a:latin typeface="Arial"/>
              </a:rPr>
              <a:t>Atelectasis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357884"/>
            <a:ext cx="1481328" cy="50292"/>
          </a:xfrm>
          <a:prstGeom prst="roundRect">
            <a:avLst/>
          </a:prstGeom>
          <a:solidFill>
            <a:srgbClr val="E1E8F1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44768" y="1357884"/>
            <a:ext cx="681410" cy="50292"/>
          </a:xfrm>
          <a:prstGeom prst="roundRect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1261872"/>
            <a:ext cx="530352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80" b="1">
                <a:solidFill>
                  <a:srgbClr val="02275B"/>
                </a:solidFill>
                <a:latin typeface="Arial"/>
              </a:rPr>
              <a:t>0.46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1609344"/>
            <a:ext cx="39502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664208"/>
            <a:ext cx="1417320" cy="1554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19" b="0">
                <a:solidFill>
                  <a:srgbClr val="141C28"/>
                </a:solidFill>
                <a:latin typeface="Arial"/>
              </a:rPr>
              <a:t>Cardiomegaly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732788"/>
            <a:ext cx="1481328" cy="50292"/>
          </a:xfrm>
          <a:prstGeom prst="roundRect">
            <a:avLst/>
          </a:prstGeom>
          <a:solidFill>
            <a:srgbClr val="E1E8F1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44768" y="1732788"/>
            <a:ext cx="162946" cy="50292"/>
          </a:xfrm>
          <a:prstGeom prst="roundRect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636776"/>
            <a:ext cx="530352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80" b="1">
                <a:solidFill>
                  <a:srgbClr val="02275B"/>
                </a:solidFill>
                <a:latin typeface="Arial"/>
              </a:rPr>
              <a:t>0.11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8" y="1984248"/>
            <a:ext cx="39502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10912" y="2039112"/>
            <a:ext cx="1417320" cy="1554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19" b="0">
                <a:solidFill>
                  <a:srgbClr val="141C28"/>
                </a:solidFill>
                <a:latin typeface="Arial"/>
              </a:rPr>
              <a:t>Consolidation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2107691"/>
            <a:ext cx="1481328" cy="50292"/>
          </a:xfrm>
          <a:prstGeom prst="roundRect">
            <a:avLst/>
          </a:prstGeom>
          <a:solidFill>
            <a:srgbClr val="E1E8F1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44768" y="2107691"/>
            <a:ext cx="696224" cy="50292"/>
          </a:xfrm>
          <a:prstGeom prst="roundRect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2011679"/>
            <a:ext cx="530352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80" b="1">
                <a:solidFill>
                  <a:srgbClr val="02275B"/>
                </a:solidFill>
                <a:latin typeface="Arial"/>
              </a:rPr>
              <a:t>0.47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64608" y="2359152"/>
            <a:ext cx="39502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2414016"/>
            <a:ext cx="1417320" cy="1554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19" b="0">
                <a:solidFill>
                  <a:srgbClr val="141C28"/>
                </a:solidFill>
                <a:latin typeface="Arial"/>
              </a:rPr>
              <a:t>Edema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2482596"/>
            <a:ext cx="1481328" cy="50292"/>
          </a:xfrm>
          <a:prstGeom prst="roundRect">
            <a:avLst/>
          </a:prstGeom>
          <a:solidFill>
            <a:srgbClr val="E1E8F1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44768" y="2482596"/>
            <a:ext cx="503651" cy="50292"/>
          </a:xfrm>
          <a:prstGeom prst="roundRect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2386584"/>
            <a:ext cx="530352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80" b="1">
                <a:solidFill>
                  <a:srgbClr val="02275B"/>
                </a:solidFill>
                <a:latin typeface="Arial"/>
              </a:rPr>
              <a:t>0.34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4608" y="2734056"/>
            <a:ext cx="39502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10912" y="2788920"/>
            <a:ext cx="1417320" cy="1554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19" b="0">
                <a:solidFill>
                  <a:srgbClr val="141C28"/>
                </a:solidFill>
                <a:latin typeface="Arial"/>
              </a:rPr>
              <a:t>Pleural Effusion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857500"/>
            <a:ext cx="1481328" cy="50292"/>
          </a:xfrm>
          <a:prstGeom prst="roundRect">
            <a:avLst/>
          </a:prstGeom>
          <a:solidFill>
            <a:srgbClr val="E1E8F1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44768" y="2857500"/>
            <a:ext cx="548091" cy="50292"/>
          </a:xfrm>
          <a:prstGeom prst="roundRect">
            <a:avLst/>
          </a:prstGeom>
          <a:solidFill>
            <a:srgbClr val="02275B"/>
          </a:solidFill>
          <a:ln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2761488"/>
            <a:ext cx="530352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80" b="1">
                <a:solidFill>
                  <a:srgbClr val="02275B"/>
                </a:solidFill>
                <a:latin typeface="Arial"/>
              </a:rPr>
              <a:t>0.37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64608" y="3291840"/>
            <a:ext cx="395020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threshold_decision_rule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3328315"/>
            <a:ext cx="2971800" cy="3110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657344" y="3739896"/>
            <a:ext cx="4364736" cy="6004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dirty="0">
                <a:solidFill>
                  <a:srgbClr val="141C28"/>
                </a:solidFill>
                <a:latin typeface="Arial"/>
              </a:rPr>
              <a:t>Class-specific thresholds were tuned on the validation set
to maximize per-class F1-score.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407408"/>
            <a:ext cx="8540496" cy="502920"/>
          </a:xfrm>
          <a:prstGeom prst="roundRect">
            <a:avLst/>
          </a:prstGeom>
          <a:solidFill>
            <a:srgbClr val="02275B"/>
          </a:solidFill>
          <a:ln w="10160">
            <a:solidFill>
              <a:srgbClr val="022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38912" y="4507992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3776" y="4553712"/>
            <a:ext cx="182880" cy="1935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dirty="0">
                <a:solidFill>
                  <a:srgbClr val="02275B"/>
                </a:solidFill>
                <a:latin typeface="Arial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480560"/>
            <a:ext cx="4892040" cy="3657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1" dirty="0">
                <a:solidFill>
                  <a:srgbClr val="FFFFFF"/>
                </a:solidFill>
                <a:latin typeface="Arial"/>
              </a:rPr>
              <a:t>U-Ignore: representative policy (mean Test AUROC 0.8927)
Class-specific thresholds → final binary decisions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97880" y="4498848"/>
            <a:ext cx="0" cy="329184"/>
          </a:xfrm>
          <a:prstGeom prst="line">
            <a:avLst/>
          </a:prstGeom>
          <a:ln w="12700">
            <a:solidFill>
              <a:srgbClr val="D2E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80760" y="4480559"/>
            <a:ext cx="2679192" cy="36575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30" b="1" dirty="0">
                <a:solidFill>
                  <a:srgbClr val="FFFFFF"/>
                </a:solidFill>
                <a:latin typeface="Arial"/>
              </a:rPr>
              <a:t>Pleural Effusion &amp; Cardiomegaly
showed strong per-class performance.</a:t>
            </a:r>
          </a:p>
        </p:txBody>
      </p:sp>
      <p:sp>
        <p:nvSpPr>
          <p:cNvPr id="53" name="Rectangle 1"/>
          <p:cNvSpPr/>
          <p:nvPr/>
        </p:nvSpPr>
        <p:spPr>
          <a:xfrm>
            <a:off x="256032" y="128016"/>
            <a:ext cx="365760" cy="541020"/>
          </a:xfrm>
          <a:prstGeom prst="rect">
            <a:avLst/>
          </a:prstGeom>
          <a:solidFill>
            <a:srgbClr val="224075"/>
          </a:solidFill>
          <a:ln w="10160"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5"/>
          <p:cNvSpPr/>
          <p:nvPr/>
        </p:nvSpPr>
        <p:spPr>
          <a:xfrm>
            <a:off x="371130" y="2761177"/>
            <a:ext cx="1029917" cy="256653"/>
          </a:xfrm>
          <a:prstGeom prst="rect">
            <a:avLst/>
          </a:prstGeom>
          <a:solidFill>
            <a:srgbClr val="DAE7F8"/>
          </a:solidFill>
          <a:ln w="10160">
            <a:solidFill>
              <a:srgbClr val="DA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56032" y="128016"/>
            <a:ext cx="391668" cy="612648"/>
          </a:xfrm>
          <a:prstGeom prst="rect">
            <a:avLst/>
          </a:prstGeom>
          <a:solidFill>
            <a:srgbClr val="224075"/>
          </a:solidFill>
          <a:ln w="10160">
            <a:solidFill>
              <a:srgbClr val="224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3341" y="189563"/>
            <a:ext cx="80010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 dirty="0" smtClean="0">
                <a:solidFill>
                  <a:srgbClr val="202630"/>
                </a:solidFill>
                <a:latin typeface="Garamond" panose="02020404030301010803" pitchFamily="18" charset="0"/>
              </a:rPr>
              <a:t>Model Inference &amp; Grad-CAM Visualization</a:t>
            </a:r>
            <a:endParaRPr sz="3000" b="1" i="0" dirty="0">
              <a:solidFill>
                <a:srgbClr val="202630"/>
              </a:solidFill>
              <a:latin typeface="Garamond" panose="02020404030301010803" pitchFamily="18" charset="0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56032" y="804672"/>
            <a:ext cx="8631936" cy="0"/>
          </a:xfrm>
          <a:prstGeom prst="line">
            <a:avLst/>
          </a:prstGeom>
          <a:ln w="12700">
            <a:solidFill>
              <a:srgbClr val="224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877824"/>
            <a:ext cx="8275320" cy="1920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endParaRPr sz="919" b="0" i="0" dirty="0">
              <a:solidFill>
                <a:srgbClr val="5C637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237" y="1140687"/>
            <a:ext cx="1018127" cy="310896"/>
          </a:xfrm>
          <a:prstGeom prst="rect">
            <a:avLst/>
          </a:prstGeom>
          <a:solidFill>
            <a:srgbClr val="DAE7F8"/>
          </a:solidFill>
          <a:ln w="10160">
            <a:solidFill>
              <a:srgbClr val="DA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3816" y="1236382"/>
            <a:ext cx="967936" cy="1234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224075"/>
                </a:solidFill>
                <a:latin typeface="Arial"/>
              </a:rPr>
              <a:t>Pleural Effusion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868" y="1446123"/>
            <a:ext cx="9601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>
                <a:solidFill>
                  <a:srgbClr val="5C6370"/>
                </a:solidFill>
                <a:latin typeface="Arial"/>
              </a:rPr>
              <a:t>Lower lung zone opacity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6464" y="1133856"/>
            <a:ext cx="1512104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leural_ef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940" y="1171194"/>
            <a:ext cx="1435809" cy="12252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82112" y="1115568"/>
            <a:ext cx="932688" cy="219456"/>
          </a:xfrm>
          <a:prstGeom prst="rect">
            <a:avLst/>
          </a:prstGeom>
          <a:solidFill>
            <a:srgbClr val="FBE4EA"/>
          </a:solidFill>
          <a:ln w="10160">
            <a:solidFill>
              <a:srgbClr val="FB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304" y="1187230"/>
            <a:ext cx="841248" cy="1005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AF5B6D"/>
                </a:solidFill>
                <a:latin typeface="Arial"/>
              </a:rPr>
              <a:t>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6148" y="1341128"/>
            <a:ext cx="960120" cy="353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 dirty="0">
                <a:solidFill>
                  <a:srgbClr val="5C6370"/>
                </a:solidFill>
                <a:latin typeface="Arial"/>
              </a:rPr>
              <a:t>No positive finding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120140"/>
            <a:ext cx="1453777" cy="1298448"/>
          </a:xfrm>
          <a:prstGeom prst="rect">
            <a:avLst/>
          </a:prstGeom>
          <a:solidFill>
            <a:srgbClr val="FFF4F7"/>
          </a:solidFill>
          <a:ln w="11430">
            <a:solidFill>
              <a:srgbClr val="E9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98463" y="1115568"/>
            <a:ext cx="1031257" cy="237744"/>
          </a:xfrm>
          <a:prstGeom prst="rect">
            <a:avLst/>
          </a:prstGeom>
          <a:solidFill>
            <a:srgbClr val="DAE7F8"/>
          </a:solidFill>
          <a:ln w="10160">
            <a:solidFill>
              <a:srgbClr val="DA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53328" y="1161288"/>
            <a:ext cx="877824" cy="1417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224075"/>
                </a:solidFill>
                <a:latin typeface="Arial"/>
              </a:rPr>
              <a:t>Atelectasis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3" y="1366521"/>
            <a:ext cx="9601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 dirty="0">
                <a:solidFill>
                  <a:srgbClr val="5C6370"/>
                </a:solidFill>
                <a:latin typeface="Arial"/>
              </a:rPr>
              <a:t>Collapsed lung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9720" y="1113090"/>
            <a:ext cx="1492595" cy="1313803"/>
          </a:xfrm>
          <a:prstGeom prst="rect">
            <a:avLst/>
          </a:prstGeom>
          <a:solidFill>
            <a:srgbClr val="FFFFFF"/>
          </a:solidFill>
          <a:ln w="1143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1130" y="2839212"/>
            <a:ext cx="1052322" cy="11730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224075"/>
                </a:solidFill>
                <a:latin typeface="Arial"/>
              </a:rPr>
              <a:t>Cardiomegaly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927" y="3029684"/>
            <a:ext cx="9601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 dirty="0">
                <a:solidFill>
                  <a:srgbClr val="5C6370"/>
                </a:solidFill>
                <a:latin typeface="Arial"/>
              </a:rPr>
              <a:t>Cardiac silhouette border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26464" y="2761488"/>
            <a:ext cx="1516828" cy="1325043"/>
          </a:xfrm>
          <a:prstGeom prst="rect">
            <a:avLst/>
          </a:prstGeom>
          <a:solidFill>
            <a:srgbClr val="FFFFFF"/>
          </a:solidFill>
          <a:ln w="1143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93159" y="2775881"/>
            <a:ext cx="932688" cy="219456"/>
          </a:xfrm>
          <a:prstGeom prst="rect">
            <a:avLst/>
          </a:prstGeom>
          <a:solidFill>
            <a:srgbClr val="DAE7F8"/>
          </a:solidFill>
          <a:ln w="10160">
            <a:solidFill>
              <a:srgbClr val="DA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2276" y="2815532"/>
            <a:ext cx="841248" cy="1409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224075"/>
                </a:solidFill>
                <a:latin typeface="Arial"/>
              </a:rPr>
              <a:t>Edema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2968" y="2970159"/>
            <a:ext cx="9601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 dirty="0">
                <a:solidFill>
                  <a:srgbClr val="5C6370"/>
                </a:solidFill>
                <a:latin typeface="Arial"/>
              </a:rPr>
              <a:t>Diffuse lower-lung opacity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6268" y="2783697"/>
            <a:ext cx="1437503" cy="1352475"/>
          </a:xfrm>
          <a:prstGeom prst="rect">
            <a:avLst/>
          </a:prstGeom>
          <a:solidFill>
            <a:srgbClr val="FFFFFF"/>
          </a:solidFill>
          <a:ln w="1143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52017" y="2767766"/>
            <a:ext cx="992886" cy="237744"/>
          </a:xfrm>
          <a:prstGeom prst="rect">
            <a:avLst/>
          </a:prstGeom>
          <a:solidFill>
            <a:srgbClr val="DAE7F8"/>
          </a:solidFill>
          <a:ln w="10160">
            <a:solidFill>
              <a:srgbClr val="DA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053327" y="2825988"/>
            <a:ext cx="1051569" cy="12129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 dirty="0">
                <a:solidFill>
                  <a:srgbClr val="224075"/>
                </a:solidFill>
                <a:latin typeface="Arial"/>
              </a:rPr>
              <a:t>Consolidation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62980" y="3011787"/>
            <a:ext cx="9601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40" b="0" i="1" dirty="0">
                <a:solidFill>
                  <a:srgbClr val="5C6370"/>
                </a:solidFill>
                <a:latin typeface="Arial"/>
              </a:rPr>
              <a:t>Localized airspace opacity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2761488"/>
            <a:ext cx="1463147" cy="1325044"/>
          </a:xfrm>
          <a:prstGeom prst="rect">
            <a:avLst/>
          </a:prstGeom>
          <a:solidFill>
            <a:srgbClr val="FFFFFF"/>
          </a:solidFill>
          <a:ln w="1143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700" y="2478414"/>
            <a:ext cx="798118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1" dirty="0">
                <a:solidFill>
                  <a:srgbClr val="5C6370"/>
                </a:solidFill>
                <a:latin typeface="Arial"/>
              </a:rPr>
              <a:t>Grad-CAM spatial validation — representative examples of model attention over clinically relevant regions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" y="4284012"/>
            <a:ext cx="8366760" cy="595720"/>
          </a:xfrm>
          <a:prstGeom prst="rect">
            <a:avLst/>
          </a:prstGeom>
          <a:solidFill>
            <a:srgbClr val="ECF4FC"/>
          </a:solidFill>
          <a:ln w="10160">
            <a:solidFill>
              <a:srgbClr val="BE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9761" y="4311712"/>
            <a:ext cx="8138160" cy="55259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 dirty="0">
                <a:solidFill>
                  <a:srgbClr val="16315C"/>
                </a:solidFill>
                <a:latin typeface="Arial"/>
              </a:rPr>
              <a:t>✓ Representative examples suggest that Grad-CAM often aligns with plausible lesion regions. </a:t>
            </a:r>
            <a:endParaRPr lang="en-US" sz="1200" b="1" i="0" dirty="0" smtClean="0">
              <a:solidFill>
                <a:srgbClr val="16315C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16315C"/>
                </a:solidFill>
                <a:latin typeface="Arial"/>
              </a:rPr>
              <a:t> </a:t>
            </a:r>
            <a:r>
              <a:rPr lang="en-US" sz="1200" b="1" dirty="0" smtClean="0">
                <a:solidFill>
                  <a:srgbClr val="16315C"/>
                </a:solidFill>
                <a:latin typeface="Arial"/>
              </a:rPr>
              <a:t>   </a:t>
            </a:r>
            <a:r>
              <a:rPr sz="1200" b="1" i="0" dirty="0" smtClean="0">
                <a:solidFill>
                  <a:srgbClr val="16315C"/>
                </a:solidFill>
                <a:latin typeface="Arial"/>
              </a:rPr>
              <a:t>However</a:t>
            </a:r>
            <a:r>
              <a:rPr sz="1200" b="1" i="0" dirty="0">
                <a:solidFill>
                  <a:srgbClr val="16315C"/>
                </a:solidFill>
                <a:latin typeface="Arial"/>
              </a:rPr>
              <a:t>, it is provided only as supporting evidence and does not replace clinical interpretation.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96" t="8274" r="7196" b="-8274"/>
          <a:stretch/>
        </p:blipFill>
        <p:spPr>
          <a:xfrm>
            <a:off x="1331211" y="2790062"/>
            <a:ext cx="1586664" cy="138581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/>
          <a:srcRect l="221" t="-10768" r="-221" b="10768"/>
          <a:stretch/>
        </p:blipFill>
        <p:spPr>
          <a:xfrm>
            <a:off x="4159513" y="973836"/>
            <a:ext cx="1391014" cy="14257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" t="-10119" r="-346" b="10119"/>
          <a:stretch/>
        </p:blipFill>
        <p:spPr>
          <a:xfrm>
            <a:off x="4156607" y="2662356"/>
            <a:ext cx="1396824" cy="144000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23" t="7813" r="6923" b="-7813"/>
          <a:stretch/>
        </p:blipFill>
        <p:spPr>
          <a:xfrm>
            <a:off x="6970179" y="1144723"/>
            <a:ext cx="1516472" cy="1350447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" t="-9868" r="-326" b="9868"/>
          <a:stretch/>
        </p:blipFill>
        <p:spPr>
          <a:xfrm>
            <a:off x="7084585" y="2651760"/>
            <a:ext cx="1412645" cy="14124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5029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Conclusions / Future Works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164553"/>
            <a:ext cx="8595360" cy="1620647"/>
          </a:xfrm>
          <a:prstGeom prst="rect">
            <a:avLst/>
          </a:prstGeom>
          <a:solidFill>
            <a:srgbClr val="F0F4FA"/>
          </a:solidFill>
          <a:ln w="19050">
            <a:solidFill>
              <a:srgbClr val="2E5EA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2235" y="1155621"/>
            <a:ext cx="73152" cy="162957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21644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50786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altLang="ko-KR" sz="1500" dirty="0" smtClean="0"/>
              <a:t>- Implemented </a:t>
            </a:r>
            <a:r>
              <a:rPr lang="en-US" altLang="ko-KR" sz="1500" dirty="0"/>
              <a:t>a web-based chest X-ray reading assistance </a:t>
            </a:r>
            <a:r>
              <a:rPr lang="en-US" altLang="ko-KR" sz="1500" dirty="0" smtClean="0"/>
              <a:t>system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en-US" altLang="ko-KR" sz="1500" dirty="0"/>
              <a:t>- Trained DenseNet121 on </a:t>
            </a:r>
            <a:r>
              <a:rPr lang="en-US" altLang="ko-KR" sz="1500" dirty="0" err="1"/>
              <a:t>CheXpert</a:t>
            </a:r>
            <a:r>
              <a:rPr lang="en-US" altLang="ko-KR" sz="1500" dirty="0"/>
              <a:t>-small for 5 major findings</a:t>
            </a:r>
            <a:br>
              <a:rPr lang="en-US" altLang="ko-KR" sz="1500" dirty="0"/>
            </a:br>
            <a:r>
              <a:rPr lang="en-US" altLang="ko-KR" sz="1500" dirty="0"/>
              <a:t>- Provided prediction probabilities, threshold-based decisions, and Grad-CAM overlays</a:t>
            </a:r>
            <a:br>
              <a:rPr lang="en-US" altLang="ko-KR" sz="1500" dirty="0"/>
            </a:br>
            <a:r>
              <a:rPr lang="en-US" altLang="ko-KR" sz="1500" dirty="0"/>
              <a:t>- Integrated React, Spring Boot, and </a:t>
            </a:r>
            <a:r>
              <a:rPr lang="en-US" altLang="ko-KR" sz="1500" dirty="0" err="1"/>
              <a:t>FastAPI</a:t>
            </a:r>
            <a:r>
              <a:rPr lang="en-US" altLang="ko-KR" sz="1500" dirty="0"/>
              <a:t> into an end-to-end prototype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39648" y="2931504"/>
            <a:ext cx="8479631" cy="32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8317" y="3339838"/>
            <a:ext cx="3587060" cy="1617687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6299" y="3358407"/>
            <a:ext cx="40233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19" y="3313883"/>
            <a:ext cx="414315" cy="50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3313883"/>
            <a:ext cx="2286000" cy="47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846150"/>
            <a:ext cx="26060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047" y="3937590"/>
            <a:ext cx="335560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/>
              <a:t>- </a:t>
            </a:r>
            <a:r>
              <a:rPr lang="en-US" altLang="ko-KR" sz="1200" dirty="0"/>
              <a:t>Build a Korean chest X-ray external test set</a:t>
            </a:r>
            <a:br>
              <a:rPr lang="en-US" altLang="ko-KR" sz="1200" dirty="0"/>
            </a:br>
            <a:r>
              <a:rPr lang="en-US" altLang="ko-KR" sz="1200" dirty="0"/>
              <a:t>- Evaluate generalizability in domestic clinical environments</a:t>
            </a:r>
            <a:br>
              <a:rPr lang="en-US" altLang="ko-KR" sz="1200" dirty="0"/>
            </a:br>
            <a:r>
              <a:rPr lang="en-US" altLang="ko-KR" sz="1200" dirty="0"/>
              <a:t>- Validate AUROC, AUPRC, threshold stability, and Grad-CAM results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5058" y="3317769"/>
            <a:ext cx="3884894" cy="1652734"/>
          </a:xfrm>
          <a:prstGeom prst="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75058" y="3332200"/>
            <a:ext cx="40233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75058" y="3278418"/>
            <a:ext cx="402336" cy="505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50546" y="3278418"/>
            <a:ext cx="2286000" cy="47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Pathologies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4786" y="3811102"/>
            <a:ext cx="26060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84786" y="3894858"/>
            <a:ext cx="372030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/>
              <a:t>- Extend beyond the current 5 </a:t>
            </a:r>
            <a:r>
              <a:rPr lang="en-US" altLang="ko-KR" sz="1200" dirty="0" err="1"/>
              <a:t>CheXpert</a:t>
            </a:r>
            <a:r>
              <a:rPr lang="en-US" altLang="ko-KR" sz="1200" dirty="0"/>
              <a:t> labels</a:t>
            </a:r>
            <a:br>
              <a:rPr lang="en-US" altLang="ko-KR" sz="1200" dirty="0"/>
            </a:br>
            <a:r>
              <a:rPr lang="en-US" altLang="ko-KR" sz="1200" dirty="0"/>
              <a:t>- Add clinically relevant findings such as </a:t>
            </a:r>
            <a:r>
              <a:rPr lang="en-US" altLang="ko-KR" sz="1200" dirty="0" smtClean="0"/>
              <a:t> pneumothorax </a:t>
            </a:r>
            <a:r>
              <a:rPr lang="en-US" altLang="ko-KR" sz="1200" dirty="0"/>
              <a:t>or </a:t>
            </a:r>
            <a:r>
              <a:rPr lang="en-US" altLang="ko-KR" sz="1200" dirty="0" smtClean="0"/>
              <a:t>lung </a:t>
            </a:r>
            <a:r>
              <a:rPr lang="en-US" altLang="ko-KR" sz="1200" dirty="0"/>
              <a:t>opacity</a:t>
            </a:r>
            <a:br>
              <a:rPr lang="en-US" altLang="ko-KR" sz="1200" dirty="0"/>
            </a:br>
            <a:r>
              <a:rPr lang="en-US" altLang="ko-KR" sz="1200" dirty="0"/>
              <a:t>- Improve coverage for practical reading assistance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983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696</Words>
  <Application>Microsoft Office PowerPoint</Application>
  <PresentationFormat>화면 슬라이드 쇼(16:9)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Baskerville BT</vt:lpstr>
      <vt:lpstr>Blackadder ITC</vt:lpstr>
      <vt:lpstr>Calibri</vt:lpstr>
      <vt:lpstr>Garamond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SHARFE X</cp:lastModifiedBy>
  <cp:revision>31</cp:revision>
  <dcterms:created xsi:type="dcterms:W3CDTF">2026-04-28T12:08:53Z</dcterms:created>
  <dcterms:modified xsi:type="dcterms:W3CDTF">2026-05-23T07:22:52Z</dcterms:modified>
</cp:coreProperties>
</file>