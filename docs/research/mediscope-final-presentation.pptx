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1E65FA-E5A3-4A1C-A092-9933B6902B0C}" v="4" dt="2026-04-28T14:02:21.9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349" autoAdjust="0"/>
  </p:normalViewPr>
  <p:slideViewPr>
    <p:cSldViewPr snapToGrid="0" snapToObjects="1">
      <p:cViewPr varScale="1">
        <p:scale>
          <a:sx n="110" d="100"/>
          <a:sy n="110" d="100"/>
        </p:scale>
        <p:origin x="126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26533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82880" y="9144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r>
              <a:rPr lang="en-US" sz="1400" b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한국정보기술학회</a:t>
            </a:r>
            <a:r>
              <a:rPr lang="en-US" sz="1400" b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하계</a:t>
            </a:r>
            <a:r>
              <a:rPr lang="en-US" sz="1400" b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종합학술대회</a:t>
            </a:r>
            <a:r>
              <a:rPr lang="en-US" sz="1400" b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                                                                                 </a:t>
            </a:r>
            <a:endParaRPr lang="en-US" sz="1400" b="1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182880" y="603069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Baskerville BT" pitchFamily="2" charset="0"/>
                <a:ea typeface="Calibri" pitchFamily="34" charset="-122"/>
                <a:cs typeface="Calibri" pitchFamily="34" charset="-120"/>
              </a:rPr>
              <a:t>Kyonggi University  ·  Dept. of AI Computer Engineering                                                                                                                                                             </a:t>
            </a:r>
            <a:endParaRPr lang="en-US" sz="1600" b="1" dirty="0">
              <a:solidFill>
                <a:schemeClr val="bg1"/>
              </a:solidFill>
              <a:latin typeface="Baskerville B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8046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altLang="ko-KR" sz="3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Learning-Based Chest X-ray</a:t>
            </a:r>
            <a:endParaRPr lang="en-US" altLang="ko-KR" sz="3800" dirty="0"/>
          </a:p>
          <a:p>
            <a:pPr algn="ctr">
              <a:lnSpc>
                <a:spcPct val="120000"/>
              </a:lnSpc>
            </a:pPr>
            <a:r>
              <a:rPr lang="en-US" altLang="ko-KR" sz="3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Assistance System</a:t>
            </a:r>
            <a:endParaRPr lang="en-US" altLang="ko-KR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8163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2E5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Explainable Medical Imaging AI Using Grad-CAM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371600" y="3401568"/>
            <a:ext cx="6400800" cy="45720"/>
          </a:xfrm>
          <a:prstGeom prst="rect">
            <a:avLst/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71404" y="3547872"/>
            <a:ext cx="820119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i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Leader: </a:t>
            </a:r>
            <a:r>
              <a:rPr lang="en-US" sz="1500" b="1" i="1" dirty="0" err="1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Yongmin</a:t>
            </a:r>
            <a:r>
              <a:rPr lang="en-US" sz="1500" b="1" i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 Park*,  </a:t>
            </a:r>
            <a:r>
              <a:rPr lang="en-US" sz="1500" b="1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Jiwon</a:t>
            </a:r>
            <a:r>
              <a:rPr lang="en-US" sz="15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i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Park* </a:t>
            </a:r>
            <a:r>
              <a:rPr lang="en-US" sz="15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500" b="1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Hosung</a:t>
            </a:r>
            <a:r>
              <a:rPr lang="en-US" sz="15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i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Song* </a:t>
            </a:r>
            <a:r>
              <a:rPr lang="en-US" sz="15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500" b="1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Yongjun</a:t>
            </a:r>
            <a:r>
              <a:rPr lang="en-US" sz="15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i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Lee* </a:t>
            </a:r>
            <a:r>
              <a:rPr lang="en-US" sz="15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500" b="1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Yoonjin</a:t>
            </a:r>
            <a:r>
              <a:rPr lang="en-US" sz="15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i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Ha* </a:t>
            </a:r>
            <a:r>
              <a:rPr lang="en-US" sz="15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· </a:t>
            </a:r>
            <a:r>
              <a:rPr lang="en-US" sz="1500" b="1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Seyeon</a:t>
            </a:r>
            <a:r>
              <a:rPr lang="en-US" sz="15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i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Son**</a:t>
            </a:r>
            <a:endParaRPr lang="en-US" sz="1500" b="1" i="1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Prof</a:t>
            </a:r>
            <a:r>
              <a:rPr lang="en-US" sz="16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600" b="1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Hyunki</a:t>
            </a:r>
            <a:r>
              <a:rPr lang="en-US" sz="1600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i="1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Lim***</a:t>
            </a:r>
            <a:endParaRPr lang="en-US" sz="1600" b="1" i="1" dirty="0"/>
          </a:p>
        </p:txBody>
      </p:sp>
      <p:sp>
        <p:nvSpPr>
          <p:cNvPr id="10" name="Shape 8"/>
          <p:cNvSpPr/>
          <p:nvPr/>
        </p:nvSpPr>
        <p:spPr>
          <a:xfrm>
            <a:off x="0" y="4480560"/>
            <a:ext cx="9144000" cy="36576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65760" y="457200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*경기대학교 AI컴퓨터공학부   **경기대학교 소프트웨어경영학부   ***경기대학교 AI컴퓨터공학부 교수 (교신저자: hlim20@kyonggi.ac.kr)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482803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본 연구는 과학기술정보통신부 및 정보통신기획평가원의 SW중심대학사업의 연구결과로 수행되었음 (2021-0-01393).</a:t>
            </a:r>
            <a:endParaRPr 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34BF7E-D3B3-7906-89AE-9A80222FA560}"/>
              </a:ext>
            </a:extLst>
          </p:cNvPr>
          <p:cNvSpPr txBox="1"/>
          <p:nvPr/>
        </p:nvSpPr>
        <p:spPr>
          <a:xfrm>
            <a:off x="7253151" y="676317"/>
            <a:ext cx="3050177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rgbClr val="BDD7EE"/>
                </a:solidFill>
                <a:latin typeface="Blackadder ITC" panose="04020505051007020D02" pitchFamily="82" charset="0"/>
                <a:ea typeface="Calibri" panose="020F0502020204030204" pitchFamily="34" charset="0"/>
                <a:cs typeface="Calibri" panose="020F0502020204030204" pitchFamily="34" charset="0"/>
              </a:rPr>
              <a:t>Team. </a:t>
            </a:r>
            <a:r>
              <a:rPr lang="ko-KR" altLang="en-US" sz="1600" b="1" dirty="0" err="1">
                <a:solidFill>
                  <a:srgbClr val="BDD7EE"/>
                </a:solidFill>
                <a:latin typeface="Blackadder ITC" panose="04020505051007020D02" pitchFamily="82" charset="0"/>
                <a:ea typeface="Calibri" pitchFamily="34" charset="-122"/>
                <a:cs typeface="Calibri" panose="020F0502020204030204" pitchFamily="34" charset="0"/>
              </a:rPr>
              <a:t>메디스코프</a:t>
            </a:r>
            <a:endParaRPr lang="ko-KR" altLang="en-US" sz="1600" b="1" dirty="0">
              <a:latin typeface="Blackadder ITC" panose="04020505051007020D02" pitchFamily="82" charset="0"/>
              <a:cs typeface="Calibri" panose="020F0502020204030204" pitchFamily="34" charset="0"/>
            </a:endParaRPr>
          </a:p>
          <a:p>
            <a:endParaRPr lang="ko-KR" altLang="en-US" sz="1500" b="1" dirty="0">
              <a:solidFill>
                <a:schemeClr val="accent1">
                  <a:lumMod val="20000"/>
                  <a:lumOff val="8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5029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68680" y="164592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Research Background</a:t>
            </a:r>
            <a:endParaRPr lang="en-US" sz="3000" b="1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8595360" cy="658368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X-ray reading faces high workload, perceptual errors, and demand for AI-assisted support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27586" y="1664208"/>
            <a:ext cx="0" cy="338328"/>
          </a:xfrm>
          <a:prstGeom prst="line">
            <a:avLst/>
          </a:prstGeom>
          <a:noFill/>
          <a:ln w="25400">
            <a:solidFill>
              <a:srgbClr val="2E5E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398264" y="2002536"/>
            <a:ext cx="219456" cy="146304"/>
          </a:xfrm>
          <a:prstGeom prst="rect">
            <a:avLst/>
          </a:prstGeom>
          <a:solidFill>
            <a:srgbClr val="2E5EAA"/>
          </a:solidFill>
          <a:ln w="12700">
            <a:solidFill>
              <a:srgbClr val="2E5EA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280851" y="2212848"/>
            <a:ext cx="4160520" cy="2374520"/>
          </a:xfrm>
          <a:prstGeom prst="rect">
            <a:avLst/>
          </a:prstGeom>
          <a:solidFill>
            <a:srgbClr val="F7F9FC"/>
          </a:solidFill>
          <a:ln w="12700">
            <a:solidFill>
              <a:srgbClr val="D9D9D9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74320" y="2212848"/>
            <a:ext cx="40233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74320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7240" y="22494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Challenge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84048" y="2670048"/>
            <a:ext cx="384048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11480" y="2761488"/>
            <a:ext cx="3931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altLang="ko-KR" sz="1400" dirty="0" smtClean="0"/>
              <a:t>- Chest </a:t>
            </a:r>
            <a:r>
              <a:rPr lang="en-US" altLang="ko-KR" sz="1400" dirty="0"/>
              <a:t>X-ray is widely used as a first-line imaging </a:t>
            </a:r>
            <a:r>
              <a:rPr lang="en-US" altLang="ko-KR" sz="1400" dirty="0" smtClean="0"/>
              <a:t>exam</a:t>
            </a:r>
            <a:r>
              <a:rPr lang="en-US" altLang="ko-KR" sz="1400" dirty="0"/>
              <a:t/>
            </a:r>
            <a:br>
              <a:rPr lang="en-US" altLang="ko-KR" sz="1400" dirty="0"/>
            </a:br>
            <a:r>
              <a:rPr lang="en-US" altLang="ko-KR" sz="1400" dirty="0"/>
              <a:t>- 2D projection causes anatomical overlap</a:t>
            </a:r>
            <a:br>
              <a:rPr lang="en-US" altLang="ko-KR" sz="1400" dirty="0"/>
            </a:br>
            <a:r>
              <a:rPr lang="en-US" altLang="ko-KR" sz="1400" dirty="0"/>
              <a:t>- Small or subtle lesions can be missed</a:t>
            </a:r>
            <a:br>
              <a:rPr lang="en-US" altLang="ko-KR" sz="1400" dirty="0"/>
            </a:br>
            <a:r>
              <a:rPr lang="en-US" altLang="ko-KR" sz="1400" dirty="0"/>
              <a:t>- Perceptual error is a major cause of missed findings [</a:t>
            </a:r>
            <a:r>
              <a:rPr lang="en-US" altLang="ko-KR" sz="1400" dirty="0" err="1"/>
              <a:t>Gefter</a:t>
            </a:r>
            <a:r>
              <a:rPr lang="en-US" altLang="ko-KR" sz="1400" dirty="0"/>
              <a:t> et al., 2023]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17720" y="2212848"/>
            <a:ext cx="4160520" cy="2374520"/>
          </a:xfrm>
          <a:prstGeom prst="rect">
            <a:avLst/>
          </a:prstGeom>
          <a:solidFill>
            <a:srgbClr val="F7F9FC"/>
          </a:solidFill>
          <a:ln w="12700">
            <a:solidFill>
              <a:srgbClr val="D9D9D9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617720" y="2212848"/>
            <a:ext cx="40233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617720" y="2212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20640" y="22494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Burden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727448" y="2670048"/>
            <a:ext cx="384048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754880" y="2761488"/>
            <a:ext cx="3886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altLang="ko-KR" sz="1400" dirty="0" smtClean="0"/>
              <a:t>- </a:t>
            </a:r>
            <a:r>
              <a:rPr lang="en-US" altLang="ko-KR" sz="1400" dirty="0"/>
              <a:t>High imaging volume increases radiologists’ workload</a:t>
            </a:r>
            <a:br>
              <a:rPr lang="en-US" altLang="ko-KR" sz="1400" dirty="0"/>
            </a:br>
            <a:r>
              <a:rPr lang="en-US" altLang="ko-KR" sz="1400" dirty="0"/>
              <a:t>- AI-based normal CXR screening can reduce reading burden [</a:t>
            </a:r>
            <a:r>
              <a:rPr lang="en-US" altLang="ko-KR" sz="1400" dirty="0" err="1"/>
              <a:t>Schalekamp</a:t>
            </a:r>
            <a:r>
              <a:rPr lang="en-US" altLang="ko-KR" sz="1400" dirty="0"/>
              <a:t> et al., 2024]</a:t>
            </a:r>
            <a:br>
              <a:rPr lang="en-US" altLang="ko-KR" sz="1400" dirty="0"/>
            </a:br>
            <a:r>
              <a:rPr lang="en-US" altLang="ko-KR" sz="1400" dirty="0"/>
              <a:t>- AI support may shorten radiologists’ reading time [Shin et al., 2023]</a:t>
            </a:r>
            <a:br>
              <a:rPr lang="en-US" altLang="ko-KR" sz="1400" dirty="0"/>
            </a:br>
            <a:r>
              <a:rPr lang="en-US" altLang="ko-KR" sz="1400" dirty="0"/>
              <a:t>- Therefore, AI-assisted reading support is clinically meaningful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5029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68680" y="164592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Related Research</a:t>
            </a:r>
            <a:endParaRPr lang="en-US" sz="3000" b="1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74320" y="9875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CNN and Grad-CAM have been applied to diverse medical imaging tasks, including brain MRI, knee X-ray, ankle MRI, and retinal fundus imaging.</a:t>
            </a:r>
            <a:endParaRPr 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274320" y="1600200"/>
            <a:ext cx="2057400" cy="3246120"/>
          </a:xfrm>
          <a:prstGeom prst="rect">
            <a:avLst/>
          </a:prstGeom>
          <a:solidFill>
            <a:srgbClr val="F7F9FC"/>
          </a:solidFill>
          <a:ln w="12700">
            <a:solidFill>
              <a:srgbClr val="D9D9D9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274320" y="1600200"/>
            <a:ext cx="2057400" cy="5486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47472" y="1691640"/>
            <a:ext cx="347472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347472" y="1691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" y="1719072"/>
            <a:ext cx="1463040" cy="274320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49808" y="1719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MRI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208483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Tumor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84048" y="2743200"/>
            <a:ext cx="18288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65760" y="2834640"/>
            <a:ext cx="1874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514600" y="1600200"/>
            <a:ext cx="2057400" cy="3246120"/>
          </a:xfrm>
          <a:prstGeom prst="rect">
            <a:avLst/>
          </a:prstGeom>
          <a:solidFill>
            <a:srgbClr val="F7F9FC"/>
          </a:solidFill>
          <a:ln w="12700">
            <a:solidFill>
              <a:srgbClr val="D9D9D9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2468880" y="1600200"/>
            <a:ext cx="2057400" cy="5486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542032" y="1691640"/>
            <a:ext cx="347472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2542032" y="1691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44368" y="1719072"/>
            <a:ext cx="1463040" cy="274320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944368" y="1719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Knee X-ray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560320" y="208483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Knee Osteoarthritis Grading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578608" y="2743200"/>
            <a:ext cx="18288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2560320" y="2834640"/>
            <a:ext cx="1874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1600200"/>
            <a:ext cx="2057400" cy="3246120"/>
          </a:xfrm>
          <a:prstGeom prst="rect">
            <a:avLst/>
          </a:prstGeom>
          <a:solidFill>
            <a:srgbClr val="F7F9FC"/>
          </a:solidFill>
          <a:ln w="12700">
            <a:solidFill>
              <a:srgbClr val="D9D9D9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663440" y="1600200"/>
            <a:ext cx="2057400" cy="5486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736592" y="1691640"/>
            <a:ext cx="347472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736592" y="1691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138928" y="1719072"/>
            <a:ext cx="1463040" cy="274320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138928" y="1719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 MRI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754880" y="208483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Ligament Injury </a:t>
            </a:r>
          </a:p>
          <a:p>
            <a:pPr algn="ctr"/>
            <a:r>
              <a:rPr lang="en-US" sz="1300" b="1" dirty="0" smtClean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300" dirty="0" smtClean="0"/>
          </a:p>
        </p:txBody>
      </p:sp>
      <p:sp>
        <p:nvSpPr>
          <p:cNvPr id="31" name="Shape 29"/>
          <p:cNvSpPr/>
          <p:nvPr/>
        </p:nvSpPr>
        <p:spPr>
          <a:xfrm>
            <a:off x="4773168" y="2743200"/>
            <a:ext cx="18288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4754880" y="2834640"/>
            <a:ext cx="1874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858000" y="1600200"/>
            <a:ext cx="2057400" cy="3246120"/>
          </a:xfrm>
          <a:prstGeom prst="rect">
            <a:avLst/>
          </a:prstGeom>
          <a:solidFill>
            <a:srgbClr val="F7F9FC"/>
          </a:solidFill>
          <a:ln w="12700">
            <a:solidFill>
              <a:srgbClr val="D9D9D9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6858000" y="1600200"/>
            <a:ext cx="2057400" cy="5486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6931152" y="1691640"/>
            <a:ext cx="347472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6931152" y="1691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333488" y="1719072"/>
            <a:ext cx="1463040" cy="274320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7333488" y="1719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Retinal Fundus 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949440" y="2084832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</a:t>
            </a:r>
          </a:p>
          <a:p>
            <a:pPr algn="ctr"/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967728" y="2743200"/>
            <a:ext cx="18288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949440" y="2834640"/>
            <a:ext cx="1874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65760" y="493776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8A318C6-7E72-C5B0-F8AD-4B03872FFE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783" y="2852929"/>
            <a:ext cx="1773330" cy="1700785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3E2A1141-5436-09B1-50B1-9B81A26134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3427" y="2834640"/>
            <a:ext cx="1782121" cy="1776655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E41D9C13-0110-BD27-ADA8-18DC23B1F44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94" t="13790" r="-5094" b="-13790"/>
          <a:stretch>
            <a:fillRect/>
          </a:stretch>
        </p:blipFill>
        <p:spPr>
          <a:xfrm>
            <a:off x="4805172" y="2898649"/>
            <a:ext cx="1892808" cy="1865372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AD34297F-6CFF-16E0-3DD9-2BB43362EB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3198" y="2898649"/>
            <a:ext cx="1773330" cy="16934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5029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68680" y="164592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latin typeface="Garamond" panose="02020404030301010803" pitchFamily="18" charset="0"/>
              </a:rPr>
              <a:t>Research-to-Service Architecture</a:t>
            </a:r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40" y="886969"/>
            <a:ext cx="7809452" cy="425653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56032" y="128016"/>
            <a:ext cx="475488" cy="612648"/>
          </a:xfrm>
          <a:prstGeom prst="rect">
            <a:avLst/>
          </a:prstGeom>
          <a:solidFill>
            <a:srgbClr val="224075"/>
          </a:solidFill>
          <a:ln w="10160">
            <a:solidFill>
              <a:srgbClr val="224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64592"/>
            <a:ext cx="8001000" cy="529084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 dirty="0">
                <a:solidFill>
                  <a:srgbClr val="202630"/>
                </a:solidFill>
                <a:latin typeface="Garamond" panose="02020404030301010803" pitchFamily="18" charset="0"/>
              </a:rPr>
              <a:t>Proposed Method / Implementation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6032" y="804672"/>
            <a:ext cx="8631936" cy="0"/>
          </a:xfrm>
          <a:prstGeom prst="line">
            <a:avLst/>
          </a:prstGeom>
          <a:ln w="12700">
            <a:solidFill>
              <a:srgbClr val="2240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47472" y="868681"/>
            <a:ext cx="2880360" cy="4224019"/>
          </a:xfrm>
          <a:prstGeom prst="rect">
            <a:avLst/>
          </a:prstGeom>
          <a:solidFill>
            <a:srgbClr val="FFFFFF"/>
          </a:solidFill>
          <a:ln w="1270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885698"/>
            <a:ext cx="3008376" cy="26771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200" b="1" i="0" dirty="0">
                <a:solidFill>
                  <a:srgbClr val="224075"/>
                </a:solidFill>
                <a:latin typeface="Arial"/>
              </a:rPr>
              <a:t>Implemented Web 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933958"/>
            <a:ext cx="5285232" cy="2194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50" b="1" i="0" dirty="0">
                <a:solidFill>
                  <a:srgbClr val="224075"/>
                </a:solidFill>
                <a:latin typeface="Arial"/>
              </a:rPr>
              <a:t>Service Flow and Responsibility Separation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1208531"/>
            <a:ext cx="5285232" cy="2194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00" b="0" i="0" dirty="0">
                <a:solidFill>
                  <a:srgbClr val="5C6370"/>
                </a:solidFill>
                <a:latin typeface="Arial"/>
              </a:rPr>
              <a:t>The backend remains the single API entry point, while the AI service focuses on model inference and artifact generation.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9856" y="1664208"/>
            <a:ext cx="5212080" cy="530352"/>
          </a:xfrm>
          <a:prstGeom prst="rect">
            <a:avLst/>
          </a:prstGeom>
          <a:solidFill>
            <a:srgbClr val="F8FAFD"/>
          </a:solidFill>
          <a:ln w="1016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66160" y="1764792"/>
            <a:ext cx="329184" cy="329184"/>
          </a:xfrm>
          <a:prstGeom prst="ellipse">
            <a:avLst/>
          </a:prstGeom>
          <a:solidFill>
            <a:srgbClr val="224075"/>
          </a:solidFill>
          <a:ln>
            <a:solidFill>
              <a:srgbClr val="224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59806" y="1810512"/>
            <a:ext cx="335537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Arial"/>
              </a:rPr>
              <a:t>1</a:t>
            </a:r>
            <a:endParaRPr sz="12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955541" y="1755648"/>
            <a:ext cx="1188720" cy="146304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60" b="1" i="0">
                <a:solidFill>
                  <a:srgbClr val="224075"/>
                </a:solidFill>
                <a:latin typeface="Arial"/>
              </a:rPr>
              <a:t>Frontend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1929384"/>
            <a:ext cx="1325880" cy="12801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750" b="0" i="0">
                <a:solidFill>
                  <a:srgbClr val="5C6370"/>
                </a:solidFill>
                <a:latin typeface="Arial"/>
              </a:rPr>
              <a:t>React / Vite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0518" y="1729484"/>
            <a:ext cx="3544570" cy="43891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50" b="0" i="0" dirty="0">
                <a:solidFill>
                  <a:srgbClr val="202630"/>
                </a:solidFill>
                <a:latin typeface="Arial"/>
              </a:rPr>
              <a:t>Upload X-ray image, preview the input, and render prediction results.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30752" y="2194560"/>
            <a:ext cx="0" cy="164592"/>
          </a:xfrm>
          <a:prstGeom prst="line">
            <a:avLst/>
          </a:prstGeom>
          <a:ln w="10160">
            <a:solidFill>
              <a:srgbClr val="ACB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359152"/>
            <a:ext cx="5212080" cy="530352"/>
          </a:xfrm>
          <a:prstGeom prst="rect">
            <a:avLst/>
          </a:prstGeom>
          <a:solidFill>
            <a:srgbClr val="F8FAFD"/>
          </a:solidFill>
          <a:ln w="1016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566160" y="2459736"/>
            <a:ext cx="329184" cy="329184"/>
          </a:xfrm>
          <a:prstGeom prst="ellipse">
            <a:avLst/>
          </a:prstGeom>
          <a:solidFill>
            <a:srgbClr val="224075"/>
          </a:solidFill>
          <a:ln>
            <a:solidFill>
              <a:srgbClr val="224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566160" y="2505456"/>
            <a:ext cx="329184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2432304"/>
            <a:ext cx="1188720" cy="146304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60" b="1" i="0">
                <a:solidFill>
                  <a:srgbClr val="224075"/>
                </a:solidFill>
                <a:latin typeface="Arial"/>
              </a:rPr>
              <a:t>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2624328"/>
            <a:ext cx="1325880" cy="12801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750" b="0" i="0">
                <a:solidFill>
                  <a:srgbClr val="5C6370"/>
                </a:solidFill>
                <a:latin typeface="Arial"/>
              </a:rPr>
              <a:t>Spring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0518" y="2417953"/>
            <a:ext cx="3416554" cy="438913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0" i="0" dirty="0">
                <a:solidFill>
                  <a:srgbClr val="202630"/>
                </a:solidFill>
                <a:latin typeface="Arial"/>
              </a:rPr>
              <a:t>Create analysis requests, manage status/result APIs, and call /predict.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730752" y="2889504"/>
            <a:ext cx="0" cy="164592"/>
          </a:xfrm>
          <a:prstGeom prst="line">
            <a:avLst/>
          </a:prstGeom>
          <a:ln w="10160">
            <a:solidFill>
              <a:srgbClr val="ACB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419856" y="3054096"/>
            <a:ext cx="5212080" cy="530352"/>
          </a:xfrm>
          <a:prstGeom prst="rect">
            <a:avLst/>
          </a:prstGeom>
          <a:solidFill>
            <a:srgbClr val="F8FAFD"/>
          </a:solidFill>
          <a:ln w="1016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566160" y="3154679"/>
            <a:ext cx="329184" cy="329184"/>
          </a:xfrm>
          <a:prstGeom prst="ellipse">
            <a:avLst/>
          </a:prstGeom>
          <a:solidFill>
            <a:srgbClr val="224075"/>
          </a:solidFill>
          <a:ln>
            <a:solidFill>
              <a:srgbClr val="224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66160" y="3200400"/>
            <a:ext cx="329184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3127248"/>
            <a:ext cx="1188720" cy="146304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60" b="1" i="0">
                <a:solidFill>
                  <a:srgbClr val="224075"/>
                </a:solidFill>
                <a:latin typeface="Arial"/>
              </a:rPr>
              <a:t>AI 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77639" y="3319272"/>
            <a:ext cx="1325880" cy="12801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750" b="0" i="0" dirty="0" err="1">
                <a:solidFill>
                  <a:srgbClr val="5C6370"/>
                </a:solidFill>
                <a:latin typeface="Arial"/>
              </a:rPr>
              <a:t>FastAPI</a:t>
            </a:r>
            <a:r>
              <a:rPr sz="750" b="0" i="0">
                <a:solidFill>
                  <a:srgbClr val="5C6370"/>
                </a:solidFill>
                <a:latin typeface="Arial"/>
              </a:rPr>
              <a:t> + DenseNet121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72581" y="3113030"/>
            <a:ext cx="3334259" cy="4663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0" i="0" dirty="0">
                <a:solidFill>
                  <a:srgbClr val="202630"/>
                </a:solidFill>
                <a:latin typeface="Arial"/>
              </a:rPr>
              <a:t>Load checkpoint and thresholds, run 5-label inference, and generate Grad-CAM.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730752" y="3584448"/>
            <a:ext cx="0" cy="164591"/>
          </a:xfrm>
          <a:prstGeom prst="line">
            <a:avLst/>
          </a:prstGeom>
          <a:ln w="10160">
            <a:solidFill>
              <a:srgbClr val="ACB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419856" y="3749039"/>
            <a:ext cx="5212080" cy="530352"/>
          </a:xfrm>
          <a:prstGeom prst="rect">
            <a:avLst/>
          </a:prstGeom>
          <a:solidFill>
            <a:srgbClr val="F8FAFD"/>
          </a:solidFill>
          <a:ln w="1016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3566160" y="3849624"/>
            <a:ext cx="329184" cy="329184"/>
          </a:xfrm>
          <a:prstGeom prst="ellipse">
            <a:avLst/>
          </a:prstGeom>
          <a:solidFill>
            <a:srgbClr val="224075"/>
          </a:solidFill>
          <a:ln>
            <a:solidFill>
              <a:srgbClr val="224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566160" y="3895343"/>
            <a:ext cx="329184" cy="21945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77639" y="3822191"/>
            <a:ext cx="1188720" cy="146304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60" b="1" i="0">
                <a:solidFill>
                  <a:srgbClr val="224075"/>
                </a:solidFill>
                <a:latin typeface="Arial"/>
              </a:rPr>
              <a:t>Output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4014215"/>
            <a:ext cx="1325880" cy="12801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750" b="0" i="0">
                <a:solidFill>
                  <a:srgbClr val="5C6370"/>
                </a:solidFill>
                <a:latin typeface="Arial"/>
              </a:rPr>
              <a:t>Clinical support 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72581" y="3794758"/>
            <a:ext cx="3331339" cy="480563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0" i="0" dirty="0">
                <a:solidFill>
                  <a:srgbClr val="202630"/>
                </a:solidFill>
                <a:latin typeface="Arial"/>
              </a:rPr>
              <a:t>Return probabilities, threshold-based binary decisions, and visual evidence.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19856" y="4498848"/>
            <a:ext cx="5212080" cy="403352"/>
          </a:xfrm>
          <a:prstGeom prst="rect">
            <a:avLst/>
          </a:prstGeom>
          <a:solidFill>
            <a:srgbClr val="ECF4FC"/>
          </a:solidFill>
          <a:ln w="10160">
            <a:solidFill>
              <a:srgbClr val="BE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538728" y="4544568"/>
            <a:ext cx="4965192" cy="30048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 dirty="0">
                <a:solidFill>
                  <a:srgbClr val="16315C"/>
                </a:solidFill>
                <a:latin typeface="Arial"/>
              </a:rPr>
              <a:t>Key point: class-specific thresholds convert probabilities into final binary findings, and Grad-CAM is used as supporting visual evidence.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987" y="1133856"/>
            <a:ext cx="2786190" cy="2249424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987" y="3392062"/>
            <a:ext cx="2786190" cy="16918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30352" y="164592"/>
            <a:ext cx="8229600" cy="43891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en-US" sz="30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Garamond" panose="02020404030301010803" pitchFamily="18" charset="0"/>
              </a:rPr>
              <a:t> </a:t>
            </a:r>
            <a:r>
              <a:rPr sz="3000" b="1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Garamond" panose="02020404030301010803" pitchFamily="18" charset="0"/>
              </a:rPr>
              <a:t>Model </a:t>
            </a:r>
            <a:r>
              <a:rPr sz="3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Garamond" panose="02020404030301010803" pitchFamily="18" charset="0"/>
              </a:rPr>
              <a:t>Evaluation Metrics &amp; Threshold Selection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6032" y="713232"/>
            <a:ext cx="8631936" cy="0"/>
          </a:xfrm>
          <a:prstGeom prst="line">
            <a:avLst/>
          </a:prstGeom>
          <a:ln w="12700">
            <a:solidFill>
              <a:srgbClr val="0227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292608" y="958596"/>
            <a:ext cx="228600" cy="228600"/>
          </a:xfrm>
          <a:prstGeom prst="ellipse">
            <a:avLst/>
          </a:prstGeom>
          <a:solidFill>
            <a:srgbClr val="02275B"/>
          </a:solidFill>
          <a:ln>
            <a:solidFill>
              <a:srgbClr val="022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56032" y="998221"/>
            <a:ext cx="288036" cy="1630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700" b="1" dirty="0" smtClean="0">
                <a:solidFill>
                  <a:srgbClr val="FFFFFF"/>
                </a:solidFill>
                <a:latin typeface="Arial"/>
              </a:rPr>
              <a:t>▮</a:t>
            </a:r>
            <a:endParaRPr sz="7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" y="931164"/>
            <a:ext cx="3840480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1" dirty="0">
                <a:solidFill>
                  <a:srgbClr val="02275B"/>
                </a:solidFill>
                <a:latin typeface="Arial"/>
              </a:rPr>
              <a:t>Uncertain Label Policy Comparison</a:t>
            </a:r>
          </a:p>
        </p:txBody>
      </p:sp>
      <p:sp>
        <p:nvSpPr>
          <p:cNvPr id="8" name="Oval 7"/>
          <p:cNvSpPr/>
          <p:nvPr/>
        </p:nvSpPr>
        <p:spPr>
          <a:xfrm>
            <a:off x="4864608" y="932688"/>
            <a:ext cx="228600" cy="228600"/>
          </a:xfrm>
          <a:prstGeom prst="ellipse">
            <a:avLst/>
          </a:prstGeom>
          <a:solidFill>
            <a:srgbClr val="02275B"/>
          </a:solidFill>
          <a:ln>
            <a:solidFill>
              <a:srgbClr val="022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87468" y="955546"/>
            <a:ext cx="182880" cy="18287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1" dirty="0">
                <a:solidFill>
                  <a:srgbClr val="FFFFFF"/>
                </a:solidFill>
                <a:latin typeface="Arial"/>
              </a:rPr>
              <a:t>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93792" y="905256"/>
            <a:ext cx="3566160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02275B"/>
                </a:solidFill>
                <a:latin typeface="Arial"/>
              </a:rPr>
              <a:t>F1-Based Threshold Tuning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645152" y="932688"/>
            <a:ext cx="0" cy="3163824"/>
          </a:xfrm>
          <a:prstGeom prst="line">
            <a:avLst/>
          </a:prstGeom>
          <a:ln w="1016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8867793"/>
              </p:ext>
            </p:extLst>
          </p:nvPr>
        </p:nvGraphicFramePr>
        <p:xfrm>
          <a:off x="262128" y="1269492"/>
          <a:ext cx="4236720" cy="18623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16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4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4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4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6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2631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Arial"/>
                        </a:rPr>
                        <a:t>Uncertainty Label</a:t>
                      </a:r>
                    </a:p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Arial"/>
                        </a:rPr>
                        <a:t>Handling</a:t>
                      </a:r>
                    </a:p>
                  </a:txBody>
                  <a:tcPr anchor="ctr">
                    <a:solidFill>
                      <a:srgbClr val="022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41C28"/>
                          </a:solidFill>
                          <a:latin typeface="Arial"/>
                        </a:rPr>
                        <a:t>Valid</a:t>
                      </a:r>
                    </a:p>
                    <a:p>
                      <a:pPr algn="ctr"/>
                      <a:r>
                        <a:rPr sz="880" b="1">
                          <a:solidFill>
                            <a:srgbClr val="141C28"/>
                          </a:solidFill>
                          <a:latin typeface="Arial"/>
                        </a:rPr>
                        <a:t>AUROC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41C28"/>
                          </a:solidFill>
                          <a:latin typeface="Arial"/>
                        </a:rPr>
                        <a:t>Valid</a:t>
                      </a:r>
                    </a:p>
                    <a:p>
                      <a:pPr algn="ctr"/>
                      <a:r>
                        <a:rPr sz="880" b="1">
                          <a:solidFill>
                            <a:srgbClr val="141C28"/>
                          </a:solidFill>
                          <a:latin typeface="Arial"/>
                        </a:rPr>
                        <a:t>AUPRC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 dirty="0">
                          <a:solidFill>
                            <a:srgbClr val="141C28"/>
                          </a:solidFill>
                          <a:latin typeface="Arial"/>
                        </a:rPr>
                        <a:t>Test</a:t>
                      </a:r>
                    </a:p>
                    <a:p>
                      <a:pPr algn="ctr"/>
                      <a:r>
                        <a:rPr sz="880" b="1" dirty="0">
                          <a:solidFill>
                            <a:srgbClr val="141C28"/>
                          </a:solidFill>
                          <a:latin typeface="Arial"/>
                        </a:rPr>
                        <a:t>AUROC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41C28"/>
                          </a:solidFill>
                          <a:latin typeface="Arial"/>
                        </a:rPr>
                        <a:t>Test</a:t>
                      </a:r>
                    </a:p>
                    <a:p>
                      <a:pPr algn="ctr"/>
                      <a:r>
                        <a:rPr sz="880" b="1">
                          <a:solidFill>
                            <a:srgbClr val="141C28"/>
                          </a:solidFill>
                          <a:latin typeface="Arial"/>
                        </a:rPr>
                        <a:t>AUPRC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339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02275B"/>
                          </a:solidFill>
                          <a:latin typeface="Arial"/>
                        </a:rPr>
                        <a:t>U-Ignore</a:t>
                      </a:r>
                    </a:p>
                  </a:txBody>
                  <a:tcPr anchor="ctr">
                    <a:solidFill>
                      <a:srgbClr val="E5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41C28"/>
                          </a:solidFill>
                          <a:latin typeface="Arial"/>
                        </a:rPr>
                        <a:t>0.8817</a:t>
                      </a:r>
                    </a:p>
                  </a:txBody>
                  <a:tcPr anchor="ctr">
                    <a:solidFill>
                      <a:srgbClr val="E5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41C28"/>
                          </a:solidFill>
                          <a:latin typeface="Arial"/>
                        </a:rPr>
                        <a:t>0.7387</a:t>
                      </a:r>
                    </a:p>
                  </a:txBody>
                  <a:tcPr anchor="ctr">
                    <a:solidFill>
                      <a:srgbClr val="E5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 dirty="0">
                          <a:solidFill>
                            <a:srgbClr val="02275B"/>
                          </a:solidFill>
                          <a:latin typeface="Arial"/>
                        </a:rPr>
                        <a:t>0.8927</a:t>
                      </a:r>
                    </a:p>
                  </a:txBody>
                  <a:tcPr anchor="ctr">
                    <a:solidFill>
                      <a:srgbClr val="E5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 dirty="0">
                          <a:solidFill>
                            <a:srgbClr val="02275B"/>
                          </a:solidFill>
                          <a:latin typeface="Arial"/>
                        </a:rPr>
                        <a:t>0.6494</a:t>
                      </a:r>
                    </a:p>
                  </a:txBody>
                  <a:tcPr anchor="ctr">
                    <a:solidFill>
                      <a:srgbClr val="E5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339">
                <a:tc>
                  <a:txBody>
                    <a:bodyPr/>
                    <a:lstStyle/>
                    <a:p>
                      <a:pPr algn="ctr"/>
                      <a:r>
                        <a:rPr sz="1019" b="0" dirty="0">
                          <a:solidFill>
                            <a:srgbClr val="141C28"/>
                          </a:solidFill>
                          <a:latin typeface="Arial"/>
                        </a:rPr>
                        <a:t>U-Ones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41C28"/>
                          </a:solidFill>
                          <a:latin typeface="Arial"/>
                        </a:rPr>
                        <a:t>0.8778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41C28"/>
                          </a:solidFill>
                          <a:latin typeface="Arial"/>
                        </a:rPr>
                        <a:t>0.7216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41C28"/>
                          </a:solidFill>
                          <a:latin typeface="Arial"/>
                        </a:rPr>
                        <a:t>0.8715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41C28"/>
                          </a:solidFill>
                          <a:latin typeface="Arial"/>
                        </a:rPr>
                        <a:t>0.6116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339">
                <a:tc>
                  <a:txBody>
                    <a:bodyPr/>
                    <a:lstStyle/>
                    <a:p>
                      <a:pPr algn="ctr"/>
                      <a:r>
                        <a:rPr sz="1019" b="0" dirty="0">
                          <a:solidFill>
                            <a:srgbClr val="141C28"/>
                          </a:solidFill>
                          <a:latin typeface="Arial"/>
                        </a:rPr>
                        <a:t>U-Zeros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 dirty="0">
                          <a:solidFill>
                            <a:srgbClr val="141C28"/>
                          </a:solidFill>
                          <a:latin typeface="Arial"/>
                        </a:rPr>
                        <a:t>0.8837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41C28"/>
                          </a:solidFill>
                          <a:latin typeface="Arial"/>
                        </a:rPr>
                        <a:t>0.7302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>
                          <a:solidFill>
                            <a:srgbClr val="141C28"/>
                          </a:solidFill>
                          <a:latin typeface="Arial"/>
                        </a:rPr>
                        <a:t>0.8903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0" dirty="0">
                          <a:solidFill>
                            <a:srgbClr val="141C28"/>
                          </a:solidFill>
                          <a:latin typeface="Arial"/>
                        </a:rPr>
                        <a:t>0.6597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283464" y="1793747"/>
            <a:ext cx="4215384" cy="402336"/>
          </a:xfrm>
          <a:prstGeom prst="rect">
            <a:avLst/>
          </a:prstGeom>
          <a:noFill/>
          <a:ln w="1016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42317" y="3486912"/>
            <a:ext cx="4160520" cy="658368"/>
          </a:xfrm>
          <a:prstGeom prst="roundRect">
            <a:avLst/>
          </a:prstGeom>
          <a:solidFill>
            <a:srgbClr val="F4F9FF"/>
          </a:solidFill>
          <a:ln w="10160">
            <a:solidFill>
              <a:srgbClr val="AAC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97765" y="3605784"/>
            <a:ext cx="310896" cy="310896"/>
          </a:xfrm>
          <a:prstGeom prst="ellipse">
            <a:avLst/>
          </a:prstGeom>
          <a:solidFill>
            <a:srgbClr val="02275B"/>
          </a:solidFill>
          <a:ln>
            <a:solidFill>
              <a:srgbClr val="022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438913" y="3651504"/>
            <a:ext cx="23317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dirty="0" smtClean="0">
                <a:solidFill>
                  <a:srgbClr val="FFFFFF"/>
                </a:solidFill>
                <a:latin typeface="Arial"/>
              </a:rPr>
              <a:t>★</a:t>
            </a:r>
            <a:endParaRPr sz="11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5821" y="3569208"/>
            <a:ext cx="3383280" cy="1828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80" b="1" dirty="0">
                <a:solidFill>
                  <a:srgbClr val="02275B"/>
                </a:solidFill>
                <a:latin typeface="Arial"/>
              </a:rPr>
              <a:t>• Representative model: U-Ignore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1" y="3852672"/>
            <a:ext cx="3383280" cy="2194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980" b="0" dirty="0">
                <a:solidFill>
                  <a:srgbClr val="141C28"/>
                </a:solidFill>
                <a:latin typeface="Arial"/>
              </a:rPr>
              <a:t>• Highest Test AUROC; avoids forcing uncertain labels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64608" y="1234440"/>
            <a:ext cx="395020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10912" y="1289304"/>
            <a:ext cx="1417320" cy="1554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19" b="0">
                <a:solidFill>
                  <a:srgbClr val="141C28"/>
                </a:solidFill>
                <a:latin typeface="Arial"/>
              </a:rPr>
              <a:t>Atelectasis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1357884"/>
            <a:ext cx="1481328" cy="50292"/>
          </a:xfrm>
          <a:prstGeom prst="roundRect">
            <a:avLst/>
          </a:prstGeom>
          <a:solidFill>
            <a:srgbClr val="E1E8F1"/>
          </a:solidFill>
          <a:ln>
            <a:solidFill>
              <a:srgbClr val="E1E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144768" y="1357884"/>
            <a:ext cx="681410" cy="50292"/>
          </a:xfrm>
          <a:prstGeom prst="roundRect">
            <a:avLst/>
          </a:prstGeom>
          <a:solidFill>
            <a:srgbClr val="02275B"/>
          </a:solidFill>
          <a:ln>
            <a:solidFill>
              <a:srgbClr val="022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38160" y="1261872"/>
            <a:ext cx="530352" cy="1828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80" b="1">
                <a:solidFill>
                  <a:srgbClr val="02275B"/>
                </a:solidFill>
                <a:latin typeface="Arial"/>
              </a:rPr>
              <a:t>0.46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64608" y="1609344"/>
            <a:ext cx="395020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10912" y="1664208"/>
            <a:ext cx="1417320" cy="1554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19" b="0">
                <a:solidFill>
                  <a:srgbClr val="141C28"/>
                </a:solidFill>
                <a:latin typeface="Arial"/>
              </a:rPr>
              <a:t>Cardiomegaly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1732788"/>
            <a:ext cx="1481328" cy="50292"/>
          </a:xfrm>
          <a:prstGeom prst="roundRect">
            <a:avLst/>
          </a:prstGeom>
          <a:solidFill>
            <a:srgbClr val="E1E8F1"/>
          </a:solidFill>
          <a:ln>
            <a:solidFill>
              <a:srgbClr val="E1E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144768" y="1732788"/>
            <a:ext cx="162946" cy="50292"/>
          </a:xfrm>
          <a:prstGeom prst="roundRect">
            <a:avLst/>
          </a:prstGeom>
          <a:solidFill>
            <a:srgbClr val="02275B"/>
          </a:solidFill>
          <a:ln>
            <a:solidFill>
              <a:srgbClr val="022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38160" y="1636776"/>
            <a:ext cx="530352" cy="1828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80" b="1">
                <a:solidFill>
                  <a:srgbClr val="02275B"/>
                </a:solidFill>
                <a:latin typeface="Arial"/>
              </a:rPr>
              <a:t>0.11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64608" y="1984248"/>
            <a:ext cx="395020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10912" y="2039112"/>
            <a:ext cx="1417320" cy="1554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19" b="0">
                <a:solidFill>
                  <a:srgbClr val="141C28"/>
                </a:solidFill>
                <a:latin typeface="Arial"/>
              </a:rPr>
              <a:t>Consolidation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2107691"/>
            <a:ext cx="1481328" cy="50292"/>
          </a:xfrm>
          <a:prstGeom prst="roundRect">
            <a:avLst/>
          </a:prstGeom>
          <a:solidFill>
            <a:srgbClr val="E1E8F1"/>
          </a:solidFill>
          <a:ln>
            <a:solidFill>
              <a:srgbClr val="E1E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144768" y="2107691"/>
            <a:ext cx="696224" cy="50292"/>
          </a:xfrm>
          <a:prstGeom prst="roundRect">
            <a:avLst/>
          </a:prstGeom>
          <a:solidFill>
            <a:srgbClr val="02275B"/>
          </a:solidFill>
          <a:ln>
            <a:solidFill>
              <a:srgbClr val="022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38160" y="2011679"/>
            <a:ext cx="530352" cy="1828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80" b="1">
                <a:solidFill>
                  <a:srgbClr val="02275B"/>
                </a:solidFill>
                <a:latin typeface="Arial"/>
              </a:rPr>
              <a:t>0.47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64608" y="2359152"/>
            <a:ext cx="395020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10912" y="2414016"/>
            <a:ext cx="1417320" cy="1554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19" b="0">
                <a:solidFill>
                  <a:srgbClr val="141C28"/>
                </a:solidFill>
                <a:latin typeface="Arial"/>
              </a:rPr>
              <a:t>Edema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4768" y="2482596"/>
            <a:ext cx="1481328" cy="50292"/>
          </a:xfrm>
          <a:prstGeom prst="roundRect">
            <a:avLst/>
          </a:prstGeom>
          <a:solidFill>
            <a:srgbClr val="E1E8F1"/>
          </a:solidFill>
          <a:ln>
            <a:solidFill>
              <a:srgbClr val="E1E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144768" y="2482596"/>
            <a:ext cx="503651" cy="50292"/>
          </a:xfrm>
          <a:prstGeom prst="roundRect">
            <a:avLst/>
          </a:prstGeom>
          <a:solidFill>
            <a:srgbClr val="02275B"/>
          </a:solidFill>
          <a:ln>
            <a:solidFill>
              <a:srgbClr val="022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138160" y="2386584"/>
            <a:ext cx="530352" cy="1828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80" b="1">
                <a:solidFill>
                  <a:srgbClr val="02275B"/>
                </a:solidFill>
                <a:latin typeface="Arial"/>
              </a:rPr>
              <a:t>0.34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64608" y="2734056"/>
            <a:ext cx="3950208" cy="292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010912" y="2788920"/>
            <a:ext cx="1417320" cy="1554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19" b="0">
                <a:solidFill>
                  <a:srgbClr val="141C28"/>
                </a:solidFill>
                <a:latin typeface="Arial"/>
              </a:rPr>
              <a:t>Pleural Effusion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44768" y="2857500"/>
            <a:ext cx="1481328" cy="50292"/>
          </a:xfrm>
          <a:prstGeom prst="roundRect">
            <a:avLst/>
          </a:prstGeom>
          <a:solidFill>
            <a:srgbClr val="E1E8F1"/>
          </a:solidFill>
          <a:ln>
            <a:solidFill>
              <a:srgbClr val="E1E8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144768" y="2857500"/>
            <a:ext cx="548091" cy="50292"/>
          </a:xfrm>
          <a:prstGeom prst="roundRect">
            <a:avLst/>
          </a:prstGeom>
          <a:solidFill>
            <a:srgbClr val="02275B"/>
          </a:solidFill>
          <a:ln>
            <a:solidFill>
              <a:srgbClr val="022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38160" y="2761488"/>
            <a:ext cx="530352" cy="1828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180" b="1">
                <a:solidFill>
                  <a:srgbClr val="02275B"/>
                </a:solidFill>
                <a:latin typeface="Arial"/>
              </a:rPr>
              <a:t>0.37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64608" y="3291840"/>
            <a:ext cx="3950208" cy="384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22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threshold_decision_rule_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3328315"/>
            <a:ext cx="2971800" cy="31109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4657344" y="3739896"/>
            <a:ext cx="4364736" cy="60045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200" b="0" dirty="0">
                <a:solidFill>
                  <a:srgbClr val="141C28"/>
                </a:solidFill>
                <a:latin typeface="Arial"/>
              </a:rPr>
              <a:t>Class-specific thresholds were tuned on the validation set
to maximize per-class F1-score.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4407408"/>
            <a:ext cx="8540496" cy="502920"/>
          </a:xfrm>
          <a:prstGeom prst="roundRect">
            <a:avLst/>
          </a:prstGeom>
          <a:solidFill>
            <a:srgbClr val="02275B"/>
          </a:solidFill>
          <a:ln w="10160">
            <a:solidFill>
              <a:srgbClr val="022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38912" y="4507992"/>
            <a:ext cx="292608" cy="292608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3776" y="4553712"/>
            <a:ext cx="182880" cy="1935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300" b="1" dirty="0">
                <a:solidFill>
                  <a:srgbClr val="02275B"/>
                </a:solidFill>
                <a:latin typeface="Arial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480560"/>
            <a:ext cx="4892040" cy="3657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1" dirty="0">
                <a:solidFill>
                  <a:srgbClr val="FFFFFF"/>
                </a:solidFill>
                <a:latin typeface="Arial"/>
              </a:rPr>
              <a:t>U-Ignore: representative policy (mean Test AUROC 0.8927)
Class-specific thresholds → final binary decisions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97880" y="4498848"/>
            <a:ext cx="0" cy="329184"/>
          </a:xfrm>
          <a:prstGeom prst="line">
            <a:avLst/>
          </a:prstGeom>
          <a:ln w="12700">
            <a:solidFill>
              <a:srgbClr val="D2E1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080760" y="4480559"/>
            <a:ext cx="2679192" cy="36575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30" b="1" dirty="0">
                <a:solidFill>
                  <a:srgbClr val="FFFFFF"/>
                </a:solidFill>
                <a:latin typeface="Arial"/>
              </a:rPr>
              <a:t>Pleural Effusion &amp; Cardiomegaly
showed strong per-class performance.</a:t>
            </a:r>
          </a:p>
        </p:txBody>
      </p:sp>
      <p:sp>
        <p:nvSpPr>
          <p:cNvPr id="53" name="Rectangle 1"/>
          <p:cNvSpPr/>
          <p:nvPr/>
        </p:nvSpPr>
        <p:spPr>
          <a:xfrm>
            <a:off x="256032" y="128016"/>
            <a:ext cx="365760" cy="541020"/>
          </a:xfrm>
          <a:prstGeom prst="rect">
            <a:avLst/>
          </a:prstGeom>
          <a:solidFill>
            <a:srgbClr val="224075"/>
          </a:solidFill>
          <a:ln w="10160">
            <a:solidFill>
              <a:srgbClr val="224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5"/>
          <p:cNvSpPr/>
          <p:nvPr/>
        </p:nvSpPr>
        <p:spPr>
          <a:xfrm>
            <a:off x="371130" y="2761177"/>
            <a:ext cx="1029917" cy="256653"/>
          </a:xfrm>
          <a:prstGeom prst="rect">
            <a:avLst/>
          </a:prstGeom>
          <a:solidFill>
            <a:srgbClr val="DAE7F8"/>
          </a:solidFill>
          <a:ln w="10160">
            <a:solidFill>
              <a:srgbClr val="DAE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256032" y="128016"/>
            <a:ext cx="391668" cy="612648"/>
          </a:xfrm>
          <a:prstGeom prst="rect">
            <a:avLst/>
          </a:prstGeom>
          <a:solidFill>
            <a:srgbClr val="224075"/>
          </a:solidFill>
          <a:ln w="10160">
            <a:solidFill>
              <a:srgbClr val="224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3341" y="189563"/>
            <a:ext cx="800100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000" b="1" i="0" dirty="0" smtClean="0">
                <a:solidFill>
                  <a:srgbClr val="202630"/>
                </a:solidFill>
                <a:latin typeface="Garamond" panose="02020404030301010803" pitchFamily="18" charset="0"/>
              </a:rPr>
              <a:t>Model Inference &amp; Grad-CAM Visualization</a:t>
            </a:r>
            <a:endParaRPr sz="3000" b="1" i="0" dirty="0">
              <a:solidFill>
                <a:srgbClr val="202630"/>
              </a:solidFill>
              <a:latin typeface="Garamond" panose="02020404030301010803" pitchFamily="18" charset="0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256032" y="804672"/>
            <a:ext cx="8631936" cy="0"/>
          </a:xfrm>
          <a:prstGeom prst="line">
            <a:avLst/>
          </a:prstGeom>
          <a:ln w="12700">
            <a:solidFill>
              <a:srgbClr val="2240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47472" y="877824"/>
            <a:ext cx="8275320" cy="192024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endParaRPr sz="919" b="0" i="0" dirty="0">
              <a:solidFill>
                <a:srgbClr val="5C6370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237" y="1140687"/>
            <a:ext cx="1018127" cy="310896"/>
          </a:xfrm>
          <a:prstGeom prst="rect">
            <a:avLst/>
          </a:prstGeom>
          <a:solidFill>
            <a:srgbClr val="DAE7F8"/>
          </a:solidFill>
          <a:ln w="10160">
            <a:solidFill>
              <a:srgbClr val="DAE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3816" y="1236382"/>
            <a:ext cx="967936" cy="1234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1" i="0" dirty="0">
                <a:solidFill>
                  <a:srgbClr val="224075"/>
                </a:solidFill>
                <a:latin typeface="Arial"/>
              </a:rPr>
              <a:t>Pleural Effusion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868" y="1446123"/>
            <a:ext cx="96012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840" b="0" i="1">
                <a:solidFill>
                  <a:srgbClr val="5C6370"/>
                </a:solidFill>
                <a:latin typeface="Arial"/>
              </a:rPr>
              <a:t>Lower lung zone opacity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426464" y="1133856"/>
            <a:ext cx="1512104" cy="1298448"/>
          </a:xfrm>
          <a:prstGeom prst="rect">
            <a:avLst/>
          </a:prstGeom>
          <a:solidFill>
            <a:srgbClr val="FFFFFF"/>
          </a:solidFill>
          <a:ln w="1143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pleural_ef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5940" y="1171194"/>
            <a:ext cx="1435809" cy="122529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182112" y="1115568"/>
            <a:ext cx="932688" cy="219456"/>
          </a:xfrm>
          <a:prstGeom prst="rect">
            <a:avLst/>
          </a:prstGeom>
          <a:solidFill>
            <a:srgbClr val="FBE4EA"/>
          </a:solidFill>
          <a:ln w="10160">
            <a:solidFill>
              <a:srgbClr val="FB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91304" y="1187230"/>
            <a:ext cx="841248" cy="1005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1" i="0" dirty="0">
                <a:solidFill>
                  <a:srgbClr val="AF5B6D"/>
                </a:solidFill>
                <a:latin typeface="Arial"/>
              </a:rPr>
              <a:t>Negative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6148" y="1341128"/>
            <a:ext cx="960120" cy="353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840" b="0" i="1" dirty="0">
                <a:solidFill>
                  <a:srgbClr val="5C6370"/>
                </a:solidFill>
                <a:latin typeface="Arial"/>
              </a:rPr>
              <a:t>No positive finding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33088" y="1120140"/>
            <a:ext cx="1453777" cy="1298448"/>
          </a:xfrm>
          <a:prstGeom prst="rect">
            <a:avLst/>
          </a:prstGeom>
          <a:solidFill>
            <a:srgbClr val="FFF4F7"/>
          </a:solidFill>
          <a:ln w="11430">
            <a:solidFill>
              <a:srgbClr val="E9BE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998463" y="1115568"/>
            <a:ext cx="1031257" cy="237744"/>
          </a:xfrm>
          <a:prstGeom prst="rect">
            <a:avLst/>
          </a:prstGeom>
          <a:solidFill>
            <a:srgbClr val="DAE7F8"/>
          </a:solidFill>
          <a:ln w="10160">
            <a:solidFill>
              <a:srgbClr val="DAE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53328" y="1161288"/>
            <a:ext cx="877824" cy="1417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1" i="0" dirty="0">
                <a:solidFill>
                  <a:srgbClr val="224075"/>
                </a:solidFill>
                <a:latin typeface="Arial"/>
              </a:rPr>
              <a:t>Atelectasis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3" y="1366521"/>
            <a:ext cx="96012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840" b="0" i="1" dirty="0">
                <a:solidFill>
                  <a:srgbClr val="5C6370"/>
                </a:solidFill>
                <a:latin typeface="Arial"/>
              </a:rPr>
              <a:t>Collapsed lung region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9720" y="1113090"/>
            <a:ext cx="1492595" cy="1313803"/>
          </a:xfrm>
          <a:prstGeom prst="rect">
            <a:avLst/>
          </a:prstGeom>
          <a:solidFill>
            <a:srgbClr val="FFFFFF"/>
          </a:solidFill>
          <a:ln w="1143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1130" y="2839212"/>
            <a:ext cx="1052322" cy="11730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1" i="0" dirty="0">
                <a:solidFill>
                  <a:srgbClr val="224075"/>
                </a:solidFill>
                <a:latin typeface="Arial"/>
              </a:rPr>
              <a:t>Cardiomegaly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927" y="3029684"/>
            <a:ext cx="96012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840" b="0" i="1" dirty="0">
                <a:solidFill>
                  <a:srgbClr val="5C6370"/>
                </a:solidFill>
                <a:latin typeface="Arial"/>
              </a:rPr>
              <a:t>Cardiac silhouette border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26464" y="2761488"/>
            <a:ext cx="1516828" cy="1325043"/>
          </a:xfrm>
          <a:prstGeom prst="rect">
            <a:avLst/>
          </a:prstGeom>
          <a:solidFill>
            <a:srgbClr val="FFFFFF"/>
          </a:solidFill>
          <a:ln w="1143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193159" y="2775881"/>
            <a:ext cx="932688" cy="219456"/>
          </a:xfrm>
          <a:prstGeom prst="rect">
            <a:avLst/>
          </a:prstGeom>
          <a:solidFill>
            <a:srgbClr val="DAE7F8"/>
          </a:solidFill>
          <a:ln w="10160">
            <a:solidFill>
              <a:srgbClr val="DAE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32276" y="2815532"/>
            <a:ext cx="841248" cy="14098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1" i="0" dirty="0">
                <a:solidFill>
                  <a:srgbClr val="224075"/>
                </a:solidFill>
                <a:latin typeface="Arial"/>
              </a:rPr>
              <a:t>Edema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2968" y="2970159"/>
            <a:ext cx="96012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840" b="0" i="1" dirty="0">
                <a:solidFill>
                  <a:srgbClr val="5C6370"/>
                </a:solidFill>
                <a:latin typeface="Arial"/>
              </a:rPr>
              <a:t>Diffuse lower-lung opacity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36268" y="2783697"/>
            <a:ext cx="1437503" cy="1352475"/>
          </a:xfrm>
          <a:prstGeom prst="rect">
            <a:avLst/>
          </a:prstGeom>
          <a:solidFill>
            <a:srgbClr val="FFFFFF"/>
          </a:solidFill>
          <a:ln w="1143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052017" y="2767766"/>
            <a:ext cx="992886" cy="237744"/>
          </a:xfrm>
          <a:prstGeom prst="rect">
            <a:avLst/>
          </a:prstGeom>
          <a:solidFill>
            <a:srgbClr val="DAE7F8"/>
          </a:solidFill>
          <a:ln w="10160">
            <a:solidFill>
              <a:srgbClr val="DAE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6053327" y="2825988"/>
            <a:ext cx="1051569" cy="1212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1" i="0" dirty="0">
                <a:solidFill>
                  <a:srgbClr val="224075"/>
                </a:solidFill>
                <a:latin typeface="Arial"/>
              </a:rPr>
              <a:t>Consolidation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980" y="3011787"/>
            <a:ext cx="960120" cy="31089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840" b="0" i="1" dirty="0">
                <a:solidFill>
                  <a:srgbClr val="5C6370"/>
                </a:solidFill>
                <a:latin typeface="Arial"/>
              </a:rPr>
              <a:t>Localized airspace opacity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59168" y="2761488"/>
            <a:ext cx="1463147" cy="1325044"/>
          </a:xfrm>
          <a:prstGeom prst="rect">
            <a:avLst/>
          </a:prstGeom>
          <a:solidFill>
            <a:srgbClr val="FFFFFF"/>
          </a:solidFill>
          <a:ln w="1143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7700" y="2478414"/>
            <a:ext cx="7981188" cy="237744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200" b="0" i="1" dirty="0">
                <a:solidFill>
                  <a:srgbClr val="5C6370"/>
                </a:solidFill>
                <a:latin typeface="Arial"/>
              </a:rPr>
              <a:t>Grad-CAM spatial validation — representative examples of model attention over clinically relevant regions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1752" y="4284012"/>
            <a:ext cx="8366760" cy="595720"/>
          </a:xfrm>
          <a:prstGeom prst="rect">
            <a:avLst/>
          </a:prstGeom>
          <a:solidFill>
            <a:srgbClr val="ECF4FC"/>
          </a:solidFill>
          <a:ln w="10160">
            <a:solidFill>
              <a:srgbClr val="BED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49761" y="4311712"/>
            <a:ext cx="8138160" cy="55259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1" i="0" dirty="0">
                <a:solidFill>
                  <a:srgbClr val="16315C"/>
                </a:solidFill>
                <a:latin typeface="Arial"/>
              </a:rPr>
              <a:t>✓ Representative examples suggest that Grad-CAM often aligns with plausible lesion regions. </a:t>
            </a:r>
            <a:endParaRPr lang="en-US" sz="1200" b="1" i="0" dirty="0" smtClean="0">
              <a:solidFill>
                <a:srgbClr val="16315C"/>
              </a:solidFill>
              <a:latin typeface="Arial"/>
            </a:endParaRPr>
          </a:p>
          <a:p>
            <a:pPr algn="l"/>
            <a:r>
              <a:rPr lang="en-US" sz="1200" b="1" dirty="0">
                <a:solidFill>
                  <a:srgbClr val="16315C"/>
                </a:solidFill>
                <a:latin typeface="Arial"/>
              </a:rPr>
              <a:t> </a:t>
            </a:r>
            <a:r>
              <a:rPr lang="en-US" sz="1200" b="1" dirty="0" smtClean="0">
                <a:solidFill>
                  <a:srgbClr val="16315C"/>
                </a:solidFill>
                <a:latin typeface="Arial"/>
              </a:rPr>
              <a:t>   </a:t>
            </a:r>
            <a:r>
              <a:rPr sz="1200" b="1" i="0" dirty="0" smtClean="0">
                <a:solidFill>
                  <a:srgbClr val="16315C"/>
                </a:solidFill>
                <a:latin typeface="Arial"/>
              </a:rPr>
              <a:t>However</a:t>
            </a:r>
            <a:r>
              <a:rPr sz="1200" b="1" i="0" dirty="0">
                <a:solidFill>
                  <a:srgbClr val="16315C"/>
                </a:solidFill>
                <a:latin typeface="Arial"/>
              </a:rPr>
              <a:t>, it is provided only as supporting evidence and does not replace clinical interpretation.</a:t>
            </a:r>
          </a:p>
        </p:txBody>
      </p:sp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196" t="8274" r="7196" b="-8274"/>
          <a:stretch/>
        </p:blipFill>
        <p:spPr>
          <a:xfrm>
            <a:off x="1331211" y="2790062"/>
            <a:ext cx="1586664" cy="1385815"/>
          </a:xfrm>
          <a:prstGeom prst="rect">
            <a:avLst/>
          </a:prstGeom>
        </p:spPr>
      </p:pic>
      <p:pic>
        <p:nvPicPr>
          <p:cNvPr id="40" name="그림 39"/>
          <p:cNvPicPr>
            <a:picLocks noChangeAspect="1"/>
          </p:cNvPicPr>
          <p:nvPr/>
        </p:nvPicPr>
        <p:blipFill rotWithShape="1">
          <a:blip r:embed="rId5"/>
          <a:srcRect l="221" t="-10768" r="-221" b="10768"/>
          <a:stretch/>
        </p:blipFill>
        <p:spPr>
          <a:xfrm>
            <a:off x="4159513" y="973836"/>
            <a:ext cx="1391014" cy="1425789"/>
          </a:xfrm>
          <a:prstGeom prst="rect">
            <a:avLst/>
          </a:prstGeom>
        </p:spPr>
      </p:pic>
      <p:pic>
        <p:nvPicPr>
          <p:cNvPr id="41" name="그림 40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" t="-10119" r="-346" b="10119"/>
          <a:stretch/>
        </p:blipFill>
        <p:spPr>
          <a:xfrm>
            <a:off x="4156607" y="2662356"/>
            <a:ext cx="1396824" cy="1440001"/>
          </a:xfrm>
          <a:prstGeom prst="rect">
            <a:avLst/>
          </a:prstGeom>
        </p:spPr>
      </p:pic>
      <p:pic>
        <p:nvPicPr>
          <p:cNvPr id="42" name="그림 41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923" t="7813" r="6923" b="-7813"/>
          <a:stretch/>
        </p:blipFill>
        <p:spPr>
          <a:xfrm>
            <a:off x="6970179" y="1144723"/>
            <a:ext cx="1516472" cy="1350447"/>
          </a:xfrm>
          <a:prstGeom prst="rect">
            <a:avLst/>
          </a:prstGeom>
        </p:spPr>
      </p:pic>
      <p:pic>
        <p:nvPicPr>
          <p:cNvPr id="43" name="그림 42"/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" t="-9868" r="-326" b="9868"/>
          <a:stretch/>
        </p:blipFill>
        <p:spPr>
          <a:xfrm>
            <a:off x="7084585" y="2651760"/>
            <a:ext cx="1412645" cy="14124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50292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68680" y="164592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Conclusions / Future Works</a:t>
            </a:r>
            <a:endParaRPr lang="en-US" sz="3000" b="1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1164553"/>
            <a:ext cx="8595360" cy="1620647"/>
          </a:xfrm>
          <a:prstGeom prst="rect">
            <a:avLst/>
          </a:prstGeom>
          <a:solidFill>
            <a:srgbClr val="F0F4FA"/>
          </a:solidFill>
          <a:ln w="19050">
            <a:solidFill>
              <a:srgbClr val="2E5EAA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82235" y="1155621"/>
            <a:ext cx="73152" cy="1629579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121644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650786"/>
            <a:ext cx="8229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</a:pPr>
            <a:r>
              <a:rPr lang="en-US" altLang="ko-KR" sz="1500" dirty="0" smtClean="0"/>
              <a:t>- Implemented </a:t>
            </a:r>
            <a:r>
              <a:rPr lang="en-US" altLang="ko-KR" sz="1500" dirty="0"/>
              <a:t>a web-based chest X-ray reading assistance </a:t>
            </a:r>
            <a:r>
              <a:rPr lang="en-US" altLang="ko-KR" sz="1500" dirty="0" smtClean="0"/>
              <a:t>system</a:t>
            </a:r>
            <a:r>
              <a:rPr lang="en-US" altLang="ko-KR" sz="1500" dirty="0"/>
              <a:t/>
            </a:r>
            <a:br>
              <a:rPr lang="en-US" altLang="ko-KR" sz="1500" dirty="0"/>
            </a:br>
            <a:r>
              <a:rPr lang="en-US" altLang="ko-KR" sz="1500" dirty="0"/>
              <a:t>- Trained DenseNet121 on </a:t>
            </a:r>
            <a:r>
              <a:rPr lang="en-US" altLang="ko-KR" sz="1500" dirty="0" err="1"/>
              <a:t>CheXpert</a:t>
            </a:r>
            <a:r>
              <a:rPr lang="en-US" altLang="ko-KR" sz="1500" dirty="0"/>
              <a:t>-small for 5 major findings</a:t>
            </a:r>
            <a:br>
              <a:rPr lang="en-US" altLang="ko-KR" sz="1500" dirty="0"/>
            </a:br>
            <a:r>
              <a:rPr lang="en-US" altLang="ko-KR" sz="1500" dirty="0"/>
              <a:t>- Provided prediction probabilities, threshold-based decisions, and Grad-CAM overlays</a:t>
            </a:r>
            <a:br>
              <a:rPr lang="en-US" altLang="ko-KR" sz="1500" dirty="0"/>
            </a:br>
            <a:r>
              <a:rPr lang="en-US" altLang="ko-KR" sz="1500" dirty="0"/>
              <a:t>- Integrated React, Spring Boot, and </a:t>
            </a:r>
            <a:r>
              <a:rPr lang="en-US" altLang="ko-KR" sz="1500" dirty="0" err="1"/>
              <a:t>FastAPI</a:t>
            </a:r>
            <a:r>
              <a:rPr lang="en-US" altLang="ko-KR" sz="1500" dirty="0"/>
              <a:t> into an end-to-end prototype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739648" y="2931504"/>
            <a:ext cx="8479631" cy="323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68317" y="3339838"/>
            <a:ext cx="3587060" cy="1617687"/>
          </a:xfrm>
          <a:prstGeom prst="rect">
            <a:avLst/>
          </a:prstGeom>
          <a:solidFill>
            <a:srgbClr val="F7F9FC"/>
          </a:solidFill>
          <a:ln w="12700">
            <a:solidFill>
              <a:srgbClr val="D9D9D9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86299" y="3358407"/>
            <a:ext cx="40233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74319" y="3313883"/>
            <a:ext cx="414315" cy="50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9808" y="3313883"/>
            <a:ext cx="2286000" cy="4774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3846150"/>
            <a:ext cx="26060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84047" y="3937590"/>
            <a:ext cx="3355601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200" dirty="0" smtClean="0"/>
              <a:t>- </a:t>
            </a:r>
            <a:r>
              <a:rPr lang="en-US" altLang="ko-KR" sz="1200" dirty="0"/>
              <a:t>Build a Korean chest X-ray external test set</a:t>
            </a:r>
            <a:br>
              <a:rPr lang="en-US" altLang="ko-KR" sz="1200" dirty="0"/>
            </a:br>
            <a:r>
              <a:rPr lang="en-US" altLang="ko-KR" sz="1200" dirty="0"/>
              <a:t>- Evaluate generalizability in domestic clinical environments</a:t>
            </a:r>
            <a:br>
              <a:rPr lang="en-US" altLang="ko-KR" sz="1200" dirty="0"/>
            </a:br>
            <a:r>
              <a:rPr lang="en-US" altLang="ko-KR" sz="1200" dirty="0"/>
              <a:t>- Validate AUROC, AUPRC, threshold stability, and Grad-CAM results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75058" y="3317769"/>
            <a:ext cx="3884894" cy="1652734"/>
          </a:xfrm>
          <a:prstGeom prst="rect">
            <a:avLst/>
          </a:prstGeom>
          <a:solidFill>
            <a:srgbClr val="F7F9FC"/>
          </a:solidFill>
          <a:ln w="12700">
            <a:solidFill>
              <a:srgbClr val="D9D9D9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875058" y="3332200"/>
            <a:ext cx="40233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875058" y="3278418"/>
            <a:ext cx="402336" cy="505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350546" y="3278418"/>
            <a:ext cx="2286000" cy="477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Pathologies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984786" y="3811102"/>
            <a:ext cx="260604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4984786" y="3894858"/>
            <a:ext cx="372030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200" dirty="0"/>
              <a:t>- Extend beyond the current 5 </a:t>
            </a:r>
            <a:r>
              <a:rPr lang="en-US" altLang="ko-KR" sz="1200" dirty="0" err="1"/>
              <a:t>CheXpert</a:t>
            </a:r>
            <a:r>
              <a:rPr lang="en-US" altLang="ko-KR" sz="1200" dirty="0"/>
              <a:t> labels</a:t>
            </a:r>
            <a:br>
              <a:rPr lang="en-US" altLang="ko-KR" sz="1200" dirty="0"/>
            </a:br>
            <a:r>
              <a:rPr lang="en-US" altLang="ko-KR" sz="1200" dirty="0"/>
              <a:t>- Add clinically relevant findings such as </a:t>
            </a:r>
            <a:r>
              <a:rPr lang="en-US" altLang="ko-KR" sz="1200" dirty="0" smtClean="0"/>
              <a:t> pneumothorax </a:t>
            </a:r>
            <a:r>
              <a:rPr lang="en-US" altLang="ko-KR" sz="1200" dirty="0"/>
              <a:t>or </a:t>
            </a:r>
            <a:r>
              <a:rPr lang="en-US" altLang="ko-KR" sz="1200" dirty="0" smtClean="0"/>
              <a:t>lung </a:t>
            </a:r>
            <a:r>
              <a:rPr lang="en-US" altLang="ko-KR" sz="1200" dirty="0"/>
              <a:t>opacity</a:t>
            </a:r>
            <a:br>
              <a:rPr lang="en-US" altLang="ko-KR" sz="1200" dirty="0"/>
            </a:br>
            <a:r>
              <a:rPr lang="en-US" altLang="ko-KR" sz="1200" dirty="0"/>
              <a:t>- Improve coverage for practical reading assistance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74320" y="498348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696</Words>
  <Application>Microsoft Office PowerPoint</Application>
  <PresentationFormat>화면 슬라이드 쇼(16:9)</PresentationFormat>
  <Paragraphs>138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맑은 고딕</vt:lpstr>
      <vt:lpstr>Arial</vt:lpstr>
      <vt:lpstr>Baskerville BT</vt:lpstr>
      <vt:lpstr>Blackadder ITC</vt:lpstr>
      <vt:lpstr>Calibri</vt:lpstr>
      <vt:lpstr>Garamond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SHARFE X</cp:lastModifiedBy>
  <cp:revision>28</cp:revision>
  <dcterms:created xsi:type="dcterms:W3CDTF">2026-04-28T12:08:53Z</dcterms:created>
  <dcterms:modified xsi:type="dcterms:W3CDTF">2026-05-07T12:53:18Z</dcterms:modified>
</cp:coreProperties>
</file>